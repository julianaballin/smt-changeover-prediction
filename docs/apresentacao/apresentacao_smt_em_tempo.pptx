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1979" y="2148840"/>
            <a:ext cx="3383280" cy="3383280"/>
          </a:xfrm>
          <a:prstGeom prst="rect">
            <a:avLst/>
          </a:prstGeom>
        </p:spPr>
      </p:pic>
      <p:pic>
        <p:nvPicPr>
          <p:cNvPr id="3" name="Picture 2" descr="logo-u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0" y="227599"/>
            <a:ext cx="1051560" cy="532352"/>
          </a:xfrm>
          <a:prstGeom prst="rect">
            <a:avLst/>
          </a:prstGeom>
        </p:spPr>
      </p:pic>
      <p:pic>
        <p:nvPicPr>
          <p:cNvPr id="4" name="Picture 3" descr="logo-sialab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6768" y="185217"/>
            <a:ext cx="841248" cy="5988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25880" y="960120"/>
            <a:ext cx="9537192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3400" b="1">
                <a:solidFill>
                  <a:srgbClr val="006D77"/>
                </a:solidFill>
                <a:latin typeface="Noto Sans"/>
              </a:defRPr>
            </a:pPr>
            <a:r>
              <a:t>SMT em Tempo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74519" y="1700784"/>
            <a:ext cx="8439912" cy="7772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400" b="0">
                <a:solidFill>
                  <a:srgbClr val="102A33"/>
                </a:solidFill>
                <a:latin typeface="Noto Sans"/>
              </a:defRPr>
            </a:pPr>
            <a:r>
              <a:t>Quais trocas de produto precisam de apoio antes de começar?</a:t>
            </a:r>
          </a:p>
        </p:txBody>
      </p:sp>
      <p:sp>
        <p:nvSpPr>
          <p:cNvPr id="7" name="Rectangle 6"/>
          <p:cNvSpPr/>
          <p:nvPr/>
        </p:nvSpPr>
        <p:spPr>
          <a:xfrm>
            <a:off x="4663440" y="2542032"/>
            <a:ext cx="2862072" cy="50292"/>
          </a:xfrm>
          <a:prstGeom prst="rect">
            <a:avLst/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72968" y="2834640"/>
            <a:ext cx="58521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800" b="1">
                <a:solidFill>
                  <a:srgbClr val="006D77"/>
                </a:solidFill>
                <a:latin typeface="Noto Sans"/>
              </a:defRPr>
            </a:pPr>
            <a:r>
              <a:t>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3236976"/>
            <a:ext cx="633679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350" b="0">
                <a:solidFill>
                  <a:srgbClr val="102A33"/>
                </a:solidFill>
                <a:latin typeface="Noto Sans"/>
              </a:defRPr>
            </a:pPr>
            <a:r>
              <a:t>Projeto 4 · Trabalho final · Outubro de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6053328"/>
            <a:ext cx="75438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50" b="1">
                <a:solidFill>
                  <a:srgbClr val="006D77"/>
                </a:solidFill>
                <a:latin typeface="Noto Sans"/>
              </a:defRPr>
            </a:pPr>
            <a:r>
              <a:t>Juliana Ballin Lima  ·  Fernanda de Oliveira da Costa  ·  Pedro Henrique Oliveira Dias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4512" y="6437376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950" b="1">
                <a:solidFill>
                  <a:srgbClr val="006D77"/>
                </a:solidFill>
                <a:latin typeface="Noto Sans"/>
              </a:defRPr>
            </a:pPr>
            <a:r>
              <a:t>01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3540" y="3794760"/>
            <a:ext cx="5760720" cy="2880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320040"/>
            <a:ext cx="4389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FF8E8"/>
                </a:solidFill>
                <a:latin typeface="Noto Sans"/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"/>
            <a:ext cx="10168128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450" b="1">
                <a:solidFill>
                  <a:srgbClr val="FFF8E8"/>
                </a:solidFill>
                <a:latin typeface="Noto Sans"/>
              </a:defRPr>
            </a:pPr>
            <a:r>
              <a:t>Sumário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98448"/>
            <a:ext cx="2450592" cy="1536192"/>
          </a:xfrm>
          <a:prstGeom prst="roundRect">
            <a:avLst>
              <a:gd name="adj" fmla="val 3500"/>
            </a:avLst>
          </a:prstGeom>
          <a:solidFill>
            <a:srgbClr val="FFF8E8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9536" y="1463039"/>
            <a:ext cx="2011680" cy="41148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27631"/>
            <a:ext cx="19019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950" b="1">
                <a:solidFill>
                  <a:srgbClr val="FF6448"/>
                </a:solidFill>
                <a:latin typeface="Noto Sans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11095"/>
            <a:ext cx="1901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006D77"/>
                </a:solidFill>
                <a:latin typeface="Noto Sans"/>
              </a:defRPr>
            </a:pPr>
            <a:r>
              <a:t>Problema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1901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00" b="0">
                <a:solidFill>
                  <a:srgbClr val="102A33"/>
                </a:solidFill>
                <a:latin typeface="Noto Sans"/>
              </a:defRPr>
            </a:pPr>
            <a:r>
              <a:t>Por que prever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93008" y="1298448"/>
            <a:ext cx="2450592" cy="1536192"/>
          </a:xfrm>
          <a:prstGeom prst="roundRect">
            <a:avLst>
              <a:gd name="adj" fmla="val 3500"/>
            </a:avLst>
          </a:prstGeom>
          <a:solidFill>
            <a:srgbClr val="FFF8E8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712464" y="1463039"/>
            <a:ext cx="2011680" cy="41148"/>
          </a:xfrm>
          <a:prstGeom prst="rect">
            <a:avLst/>
          </a:prstGeom>
          <a:solidFill>
            <a:srgbClr val="FFC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67328" y="1627631"/>
            <a:ext cx="19019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950" b="1">
                <a:solidFill>
                  <a:srgbClr val="FFC43D"/>
                </a:solidFill>
                <a:latin typeface="Noto San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7328" y="1911095"/>
            <a:ext cx="1901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006D77"/>
                </a:solidFill>
                <a:latin typeface="Noto Sans"/>
              </a:defRPr>
            </a:pPr>
            <a:r>
              <a:t>Perguntas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67328" y="2331720"/>
            <a:ext cx="1901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00" b="0">
                <a:solidFill>
                  <a:srgbClr val="102A33"/>
                </a:solidFill>
                <a:latin typeface="Noto Sans"/>
              </a:defRPr>
            </a:pPr>
            <a:r>
              <a:t>Número e risco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45936" y="1298448"/>
            <a:ext cx="2450592" cy="1536192"/>
          </a:xfrm>
          <a:prstGeom prst="roundRect">
            <a:avLst>
              <a:gd name="adj" fmla="val 3500"/>
            </a:avLst>
          </a:prstGeom>
          <a:solidFill>
            <a:srgbClr val="FFF8E8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65392" y="1463039"/>
            <a:ext cx="2011680" cy="41148"/>
          </a:xfrm>
          <a:prstGeom prst="rect">
            <a:avLst/>
          </a:prstGeom>
          <a:solidFill>
            <a:srgbClr val="36A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0256" y="1627631"/>
            <a:ext cx="19019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950" b="1">
                <a:solidFill>
                  <a:srgbClr val="36A9E1"/>
                </a:solidFill>
                <a:latin typeface="Noto Sans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0256" y="1911095"/>
            <a:ext cx="1901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006D77"/>
                </a:solidFill>
                <a:latin typeface="Noto Sans"/>
              </a:defRPr>
            </a:pPr>
            <a:r>
              <a:t>Dataset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0256" y="2331720"/>
            <a:ext cx="1901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00" b="0">
                <a:solidFill>
                  <a:srgbClr val="102A33"/>
                </a:solidFill>
                <a:latin typeface="Noto Sans"/>
              </a:defRPr>
            </a:pPr>
            <a:r>
              <a:t>2.057 registros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98863" y="1298448"/>
            <a:ext cx="2450592" cy="1536192"/>
          </a:xfrm>
          <a:prstGeom prst="roundRect">
            <a:avLst>
              <a:gd name="adj" fmla="val 3500"/>
            </a:avLst>
          </a:prstGeom>
          <a:solidFill>
            <a:srgbClr val="FFF8E8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418319" y="1463039"/>
            <a:ext cx="2011680" cy="41148"/>
          </a:xfrm>
          <a:prstGeom prst="rect">
            <a:avLst/>
          </a:prstGeom>
          <a:solidFill>
            <a:srgbClr val="18B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73184" y="1627631"/>
            <a:ext cx="19019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950" b="1">
                <a:solidFill>
                  <a:srgbClr val="18B889"/>
                </a:solidFill>
                <a:latin typeface="Noto Sans"/>
              </a:defRPr>
            </a:pPr>
            <a: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73184" y="1911095"/>
            <a:ext cx="1901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006D77"/>
                </a:solidFill>
                <a:latin typeface="Noto Sans"/>
              </a:defRPr>
            </a:pPr>
            <a:r>
              <a:t>Método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73184" y="2331720"/>
            <a:ext cx="1901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00" b="0">
                <a:solidFill>
                  <a:srgbClr val="102A33"/>
                </a:solidFill>
                <a:latin typeface="Noto Sans"/>
              </a:defRPr>
            </a:pPr>
            <a:r>
              <a:t>Limpar e dividir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291840"/>
            <a:ext cx="2450592" cy="1536192"/>
          </a:xfrm>
          <a:prstGeom prst="roundRect">
            <a:avLst>
              <a:gd name="adj" fmla="val 3500"/>
            </a:avLst>
          </a:prstGeom>
          <a:solidFill>
            <a:srgbClr val="FFF8E8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59536" y="3456432"/>
            <a:ext cx="2011680" cy="41148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3621024"/>
            <a:ext cx="19019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950" b="1">
                <a:solidFill>
                  <a:srgbClr val="FF6448"/>
                </a:solidFill>
                <a:latin typeface="Noto Sans"/>
              </a:defRPr>
            </a:pPr>
            <a: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3904488"/>
            <a:ext cx="1901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006D77"/>
                </a:solidFill>
                <a:latin typeface="Noto Sans"/>
              </a:defRPr>
            </a:pPr>
            <a:r>
              <a:t>Resultados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325112"/>
            <a:ext cx="1901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00" b="0">
                <a:solidFill>
                  <a:srgbClr val="102A33"/>
                </a:solidFill>
                <a:latin typeface="Noto Sans"/>
              </a:defRPr>
            </a:pPr>
            <a:r>
              <a:t>Regressão e classe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93008" y="3291840"/>
            <a:ext cx="2450592" cy="1536192"/>
          </a:xfrm>
          <a:prstGeom prst="roundRect">
            <a:avLst>
              <a:gd name="adj" fmla="val 3500"/>
            </a:avLst>
          </a:prstGeom>
          <a:solidFill>
            <a:srgbClr val="FFF8E8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712464" y="3456432"/>
            <a:ext cx="2011680" cy="41148"/>
          </a:xfrm>
          <a:prstGeom prst="rect">
            <a:avLst/>
          </a:prstGeom>
          <a:solidFill>
            <a:srgbClr val="36A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67328" y="3621024"/>
            <a:ext cx="19019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950" b="1">
                <a:solidFill>
                  <a:srgbClr val="36A9E1"/>
                </a:solidFill>
                <a:latin typeface="Noto Sans"/>
              </a:defRPr>
            </a:pPr>
            <a: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67328" y="3904488"/>
            <a:ext cx="1901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006D77"/>
                </a:solidFill>
                <a:latin typeface="Noto Sans"/>
              </a:defRPr>
            </a:pPr>
            <a:r>
              <a:t>Notebook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67328" y="4325112"/>
            <a:ext cx="1901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00" b="0">
                <a:solidFill>
                  <a:srgbClr val="102A33"/>
                </a:solidFill>
                <a:latin typeface="Noto Sans"/>
              </a:defRPr>
            </a:pPr>
            <a:r>
              <a:t>Demonstração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45936" y="3291840"/>
            <a:ext cx="2450592" cy="1536192"/>
          </a:xfrm>
          <a:prstGeom prst="roundRect">
            <a:avLst>
              <a:gd name="adj" fmla="val 3500"/>
            </a:avLst>
          </a:prstGeom>
          <a:solidFill>
            <a:srgbClr val="FFF8E8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65392" y="3456432"/>
            <a:ext cx="2011680" cy="41148"/>
          </a:xfrm>
          <a:prstGeom prst="rect">
            <a:avLst/>
          </a:prstGeom>
          <a:solidFill>
            <a:srgbClr val="FFC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20256" y="3621024"/>
            <a:ext cx="19019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950" b="1">
                <a:solidFill>
                  <a:srgbClr val="FFC43D"/>
                </a:solidFill>
                <a:latin typeface="Noto Sans"/>
              </a:defRPr>
            </a:pPr>
            <a:r>
              <a:t>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0256" y="3904488"/>
            <a:ext cx="1901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006D77"/>
                </a:solidFill>
                <a:latin typeface="Noto Sans"/>
              </a:defRPr>
            </a:pPr>
            <a:r>
              <a:t>Entregáveis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0256" y="4325112"/>
            <a:ext cx="1901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00" b="0">
                <a:solidFill>
                  <a:srgbClr val="102A33"/>
                </a:solidFill>
                <a:latin typeface="Noto Sans"/>
              </a:defRPr>
            </a:pPr>
            <a:r>
              <a:t>Relatório bônus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98863" y="3291840"/>
            <a:ext cx="2450592" cy="1536192"/>
          </a:xfrm>
          <a:prstGeom prst="roundRect">
            <a:avLst>
              <a:gd name="adj" fmla="val 3500"/>
            </a:avLst>
          </a:prstGeom>
          <a:solidFill>
            <a:srgbClr val="FFF8E8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418319" y="3456432"/>
            <a:ext cx="2011680" cy="41148"/>
          </a:xfrm>
          <a:prstGeom prst="rect">
            <a:avLst/>
          </a:prstGeom>
          <a:solidFill>
            <a:srgbClr val="18B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473184" y="3621024"/>
            <a:ext cx="19019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950" b="1">
                <a:solidFill>
                  <a:srgbClr val="18B889"/>
                </a:solidFill>
                <a:latin typeface="Noto Sans"/>
              </a:defRPr>
            </a:pPr>
            <a:r>
              <a:t>08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73184" y="3904488"/>
            <a:ext cx="1901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006D77"/>
                </a:solidFill>
                <a:latin typeface="Noto Sans"/>
              </a:defRPr>
            </a:pPr>
            <a:r>
              <a:t>Decisão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73184" y="4325112"/>
            <a:ext cx="190195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00" b="0">
                <a:solidFill>
                  <a:srgbClr val="102A33"/>
                </a:solidFill>
                <a:latin typeface="Noto Sans"/>
              </a:defRPr>
            </a:pPr>
            <a:r>
              <a:t>Como apoiar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06040" y="5605272"/>
            <a:ext cx="6967728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100" b="1">
                <a:solidFill>
                  <a:srgbClr val="FFF8E8"/>
                </a:solidFill>
                <a:latin typeface="Noto Sans"/>
              </a:defRPr>
            </a:pPr>
            <a:r>
              <a:t>Uma previsão para apoiar a decisão da linha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54512" y="6437376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950" b="1">
                <a:solidFill>
                  <a:srgbClr val="FFF8E8"/>
                </a:solidFill>
                <a:latin typeface="Noto Sans"/>
              </a:defRPr>
            </a:pPr>
            <a:r>
              <a:t>02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320040"/>
            <a:ext cx="4389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006D77"/>
                </a:solidFill>
                <a:latin typeface="Noto Sans"/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83464"/>
            <a:ext cx="10168128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450" b="1">
                <a:solidFill>
                  <a:srgbClr val="006D77"/>
                </a:solidFill>
                <a:latin typeface="Noto Sans"/>
              </a:defRPr>
            </a:pPr>
            <a:r>
              <a:t>O problema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4944" y="1188720"/>
            <a:ext cx="4736592" cy="440740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1527048"/>
            <a:ext cx="4078224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300" b="1">
                <a:solidFill>
                  <a:srgbClr val="006D77"/>
                </a:solidFill>
                <a:latin typeface="Noto Sans"/>
              </a:defRPr>
            </a:pPr>
            <a:r>
              <a:t>A linha para para trocar de produto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" y="2286000"/>
            <a:ext cx="54864" cy="210312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9304" y="2212848"/>
            <a:ext cx="3694176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550" b="0">
                <a:solidFill>
                  <a:srgbClr val="102A33"/>
                </a:solidFill>
                <a:latin typeface="Noto Sans"/>
              </a:defRPr>
            </a:pPr>
            <a:r>
              <a:t>retirar alimentadores do produto anterior</a:t>
            </a:r>
          </a:p>
        </p:txBody>
      </p:sp>
      <p:sp>
        <p:nvSpPr>
          <p:cNvPr id="8" name="Rectangle 7"/>
          <p:cNvSpPr/>
          <p:nvPr/>
        </p:nvSpPr>
        <p:spPr>
          <a:xfrm>
            <a:off x="1078992" y="2779776"/>
            <a:ext cx="54864" cy="210312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9304" y="2706624"/>
            <a:ext cx="3694176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550" b="0">
                <a:solidFill>
                  <a:srgbClr val="102A33"/>
                </a:solidFill>
                <a:latin typeface="Noto Sans"/>
              </a:defRPr>
            </a:pPr>
            <a:r>
              <a:t>instalar o novo conjunto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78992" y="3273552"/>
            <a:ext cx="54864" cy="210312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9304" y="3200400"/>
            <a:ext cx="3694176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550" b="0">
                <a:solidFill>
                  <a:srgbClr val="102A33"/>
                </a:solidFill>
                <a:latin typeface="Noto Sans"/>
              </a:defRPr>
            </a:pPr>
            <a:r>
              <a:t>carregar o programa da máquina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8992" y="3767328"/>
            <a:ext cx="54864" cy="210312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9304" y="3694176"/>
            <a:ext cx="3694176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550" b="0">
                <a:solidFill>
                  <a:srgbClr val="102A33"/>
                </a:solidFill>
                <a:latin typeface="Noto Sans"/>
              </a:defRPr>
            </a:pPr>
            <a:r>
              <a:t>conferir a primeira placa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4544568"/>
            <a:ext cx="4078224" cy="630936"/>
          </a:xfrm>
          <a:prstGeom prst="roundRect">
            <a:avLst>
              <a:gd name="adj" fmla="val 3500"/>
            </a:avLst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61288" y="4718304"/>
            <a:ext cx="3803904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Noto Sans"/>
              </a:defRPr>
            </a:pPr>
            <a:r>
              <a:t>Enquanto isso, a linha não produz.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736" y="1005840"/>
            <a:ext cx="3200400" cy="32004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92240" y="1389888"/>
            <a:ext cx="434340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100" b="1">
                <a:solidFill>
                  <a:srgbClr val="006D77"/>
                </a:solidFill>
                <a:latin typeface="Noto Sans"/>
              </a:defRPr>
            </a:pPr>
            <a:r>
              <a:t>A duração varia muito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53328" y="2962656"/>
            <a:ext cx="2542032" cy="1261872"/>
          </a:xfrm>
          <a:prstGeom prst="roundRect">
            <a:avLst>
              <a:gd name="adj" fmla="val 3500"/>
            </a:avLst>
          </a:prstGeom>
          <a:solidFill>
            <a:srgbClr val="C7E9F8"/>
          </a:solidFill>
          <a:ln w="15240">
            <a:solidFill>
              <a:srgbClr val="A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2784" y="3227832"/>
            <a:ext cx="21031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500" b="1">
                <a:solidFill>
                  <a:srgbClr val="006D77"/>
                </a:solidFill>
                <a:latin typeface="Noto Sans"/>
              </a:defRPr>
            </a:pPr>
            <a:r>
              <a:t>20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2784" y="3703320"/>
            <a:ext cx="21031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250" b="0">
                <a:solidFill>
                  <a:srgbClr val="102A33"/>
                </a:solidFill>
                <a:latin typeface="Noto Sans"/>
              </a:defRPr>
            </a:pPr>
            <a:r>
              <a:t>trocas rápidas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14816" y="2962656"/>
            <a:ext cx="2542032" cy="1261872"/>
          </a:xfrm>
          <a:prstGeom prst="roundRect">
            <a:avLst>
              <a:gd name="adj" fmla="val 3500"/>
            </a:avLst>
          </a:prstGeom>
          <a:solidFill>
            <a:srgbClr val="F8D2C8"/>
          </a:solidFill>
          <a:ln w="15240">
            <a:solidFill>
              <a:srgbClr val="F0B7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34272" y="3227832"/>
            <a:ext cx="21031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500" b="1">
                <a:solidFill>
                  <a:srgbClr val="FF6448"/>
                </a:solidFill>
                <a:latin typeface="Noto Sans"/>
              </a:defRPr>
            </a:pPr>
            <a:r>
              <a:t>&gt; 60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34272" y="3703320"/>
            <a:ext cx="21031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250" b="0">
                <a:solidFill>
                  <a:srgbClr val="102A33"/>
                </a:solidFill>
                <a:latin typeface="Noto Sans"/>
              </a:defRPr>
            </a:pPr>
            <a:r>
              <a:t>trocas críticas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53328" y="4626864"/>
            <a:ext cx="5303520" cy="841248"/>
          </a:xfrm>
          <a:prstGeom prst="roundRect">
            <a:avLst>
              <a:gd name="adj" fmla="val 3500"/>
            </a:avLst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27648" y="4828032"/>
            <a:ext cx="475488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700" b="1">
                <a:solidFill>
                  <a:srgbClr val="FFF8E8"/>
                </a:solidFill>
                <a:latin typeface="Noto Sans"/>
              </a:defRPr>
            </a:pPr>
            <a:r>
              <a:t>A ajuda adicional existe, mas não alcança todas as trocas.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4512" y="6437376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950" b="1">
                <a:solidFill>
                  <a:srgbClr val="006D77"/>
                </a:solidFill>
                <a:latin typeface="Noto Sans"/>
              </a:defRPr>
            </a:pPr>
            <a:r>
              <a:t>03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3540" y="3794760"/>
            <a:ext cx="5760720" cy="2880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320040"/>
            <a:ext cx="4389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006D77"/>
                </a:solidFill>
                <a:latin typeface="Noto Sans"/>
              </a:defRPr>
            </a:pPr>
            <a: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"/>
            <a:ext cx="10168128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450" b="1">
                <a:solidFill>
                  <a:srgbClr val="006D77"/>
                </a:solidFill>
                <a:latin typeface="Noto Sans"/>
              </a:defRPr>
            </a:pPr>
            <a:r>
              <a:t>As perguntas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53312" y="1097280"/>
            <a:ext cx="94640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500" b="1">
                <a:solidFill>
                  <a:srgbClr val="102A33"/>
                </a:solidFill>
                <a:latin typeface="Noto Sans"/>
              </a:defRPr>
            </a:pPr>
            <a:r>
              <a:t>Antes de a linha parar, quais trocas precisam de mais atenção?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103120"/>
            <a:ext cx="5212080" cy="2999232"/>
          </a:xfrm>
          <a:prstGeom prst="roundRect">
            <a:avLst>
              <a:gd name="adj" fmla="val 3500"/>
            </a:avLst>
          </a:prstGeom>
          <a:solidFill>
            <a:srgbClr val="C7E9F8"/>
          </a:solidFill>
          <a:ln w="15240">
            <a:solidFill>
              <a:srgbClr val="A9D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8992" y="2432304"/>
            <a:ext cx="4480560" cy="50292"/>
          </a:xfrm>
          <a:prstGeom prst="rect">
            <a:avLst/>
          </a:prstGeom>
          <a:solidFill>
            <a:srgbClr val="36A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651760"/>
            <a:ext cx="44805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050" b="1">
                <a:solidFill>
                  <a:srgbClr val="36A9E1"/>
                </a:solidFill>
                <a:latin typeface="Noto Sans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926080"/>
            <a:ext cx="44805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400" b="1">
                <a:solidFill>
                  <a:srgbClr val="006D77"/>
                </a:solidFill>
                <a:latin typeface="Noto Sans"/>
              </a:defRPr>
            </a:pPr>
            <a:r>
              <a:t>Regressão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" y="3538728"/>
            <a:ext cx="44348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000" b="0">
                <a:solidFill>
                  <a:srgbClr val="102A33"/>
                </a:solidFill>
                <a:latin typeface="Noto Sans"/>
              </a:defRPr>
            </a:pPr>
            <a:r>
              <a:t>Quantos minutos a troca deve levar?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4443984"/>
            <a:ext cx="38404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400" b="1">
                <a:solidFill>
                  <a:srgbClr val="006D77"/>
                </a:solidFill>
                <a:latin typeface="Noto Sans"/>
              </a:defRPr>
            </a:pPr>
            <a:r>
              <a:t>Métrica principal: MAE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2784" y="2103120"/>
            <a:ext cx="5212080" cy="2999232"/>
          </a:xfrm>
          <a:prstGeom prst="roundRect">
            <a:avLst>
              <a:gd name="adj" fmla="val 3500"/>
            </a:avLst>
          </a:prstGeom>
          <a:solidFill>
            <a:srgbClr val="F8D2C8"/>
          </a:solidFill>
          <a:ln w="15240">
            <a:solidFill>
              <a:srgbClr val="F0B7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38544" y="2432304"/>
            <a:ext cx="4480560" cy="50292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38544" y="2651760"/>
            <a:ext cx="44805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050" b="1">
                <a:solidFill>
                  <a:srgbClr val="FF6448"/>
                </a:solidFill>
                <a:latin typeface="Noto Sans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38544" y="2926080"/>
            <a:ext cx="44805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400" b="1">
                <a:solidFill>
                  <a:srgbClr val="006D77"/>
                </a:solidFill>
                <a:latin typeface="Noto Sans"/>
              </a:defRPr>
            </a:pPr>
            <a:r>
              <a:t>Classificação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84264" y="3538728"/>
            <a:ext cx="4434840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000" b="0">
                <a:solidFill>
                  <a:srgbClr val="102A33"/>
                </a:solidFill>
                <a:latin typeface="Noto Sans"/>
              </a:defRPr>
            </a:pPr>
            <a:r>
              <a:t>A troca deve passar de 42 minutos?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9984" y="4379976"/>
            <a:ext cx="43434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350" b="1">
                <a:solidFill>
                  <a:srgbClr val="006D77"/>
                </a:solidFill>
                <a:latin typeface="Noto Sans"/>
              </a:defRPr>
            </a:pPr>
            <a:r>
              <a:t>Foco: encontrar o risco sem alarmar demais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4512" y="6437376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950" b="1">
                <a:solidFill>
                  <a:srgbClr val="006D77"/>
                </a:solidFill>
                <a:latin typeface="Noto Sans"/>
              </a:defRPr>
            </a:pPr>
            <a:r>
              <a:t>04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3540" y="3794760"/>
            <a:ext cx="5760720" cy="2880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320040"/>
            <a:ext cx="4389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FF8E8"/>
                </a:solidFill>
                <a:latin typeface="Noto Sans"/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"/>
            <a:ext cx="10168128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450" b="1">
                <a:solidFill>
                  <a:srgbClr val="FFF8E8"/>
                </a:solidFill>
                <a:latin typeface="Noto Sans"/>
              </a:defRPr>
            </a:pPr>
            <a:r>
              <a:t>O dataset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" y="1078992"/>
            <a:ext cx="1993392" cy="1078992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86384" y="1197864"/>
            <a:ext cx="1627632" cy="41148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307592"/>
            <a:ext cx="1773936" cy="35661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200" b="1">
                <a:solidFill>
                  <a:srgbClr val="FF6448"/>
                </a:solidFill>
                <a:latin typeface="Noto Sans"/>
              </a:defRPr>
            </a:pPr>
            <a:r>
              <a:t>2.057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764792"/>
            <a:ext cx="1773936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050" b="0">
                <a:solidFill>
                  <a:srgbClr val="102A33"/>
                </a:solidFill>
                <a:latin typeface="Noto Sans"/>
              </a:defRPr>
            </a:pPr>
            <a:r>
              <a:t>linhas recebidas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61488" y="1078992"/>
            <a:ext cx="2157984" cy="1078992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944368" y="1197864"/>
            <a:ext cx="1792224" cy="41148"/>
          </a:xfrm>
          <a:prstGeom prst="rect">
            <a:avLst/>
          </a:prstGeom>
          <a:solidFill>
            <a:srgbClr val="18B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1216" y="1307592"/>
            <a:ext cx="1938528" cy="35661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200" b="1">
                <a:solidFill>
                  <a:srgbClr val="18B889"/>
                </a:solidFill>
                <a:latin typeface="Noto Sans"/>
              </a:defRPr>
            </a:pPr>
            <a:r>
              <a:t>2.043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71216" y="1764792"/>
            <a:ext cx="1938528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050" b="0">
                <a:solidFill>
                  <a:srgbClr val="102A33"/>
                </a:solidFill>
                <a:latin typeface="Noto Sans"/>
              </a:defRPr>
            </a:pPr>
            <a:r>
              <a:t>trocas após deduplicar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84064" y="1078992"/>
            <a:ext cx="1993392" cy="1078992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66944" y="1197864"/>
            <a:ext cx="1627632" cy="41148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93792" y="1307592"/>
            <a:ext cx="1773936" cy="35661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200" b="1">
                <a:solidFill>
                  <a:srgbClr val="FF6448"/>
                </a:solidFill>
                <a:latin typeface="Noto Sans"/>
              </a:defRPr>
            </a:pPr>
            <a:r>
              <a:t>27,2%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3792" y="1764792"/>
            <a:ext cx="1773936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050" b="0">
                <a:solidFill>
                  <a:srgbClr val="102A33"/>
                </a:solidFill>
                <a:latin typeface="Noto Sans"/>
              </a:defRPr>
            </a:pPr>
            <a:r>
              <a:t>acima de 42 min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42048" y="1078992"/>
            <a:ext cx="2103120" cy="1078992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24927" y="1197864"/>
            <a:ext cx="1737360" cy="41148"/>
          </a:xfrm>
          <a:prstGeom prst="rect">
            <a:avLst/>
          </a:prstGeom>
          <a:solidFill>
            <a:srgbClr val="36A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51775" y="1307592"/>
            <a:ext cx="1883663" cy="35661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200" b="1">
                <a:solidFill>
                  <a:srgbClr val="36A9E1"/>
                </a:solidFill>
                <a:latin typeface="Noto Sans"/>
              </a:defRPr>
            </a:pPr>
            <a: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51775" y="1764792"/>
            <a:ext cx="1883663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050" b="0">
                <a:solidFill>
                  <a:srgbClr val="102A33"/>
                </a:solidFill>
                <a:latin typeface="Noto Sans"/>
              </a:defRPr>
            </a:pPr>
            <a:r>
              <a:t>entradas antes da troca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09760" y="1078992"/>
            <a:ext cx="2057400" cy="1078992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92640" y="1197864"/>
            <a:ext cx="1691640" cy="41148"/>
          </a:xfrm>
          <a:prstGeom prst="rect">
            <a:avLst/>
          </a:prstGeom>
          <a:solidFill>
            <a:srgbClr val="FFC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19488" y="1307592"/>
            <a:ext cx="1837943" cy="35661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200" b="1">
                <a:solidFill>
                  <a:srgbClr val="FFC43D"/>
                </a:solidFill>
                <a:latin typeface="Noto Sans"/>
              </a:defRPr>
            </a:pPr>
            <a:r>
              <a:t>jan a ago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19488" y="1764792"/>
            <a:ext cx="1837943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050" b="0">
                <a:solidFill>
                  <a:srgbClr val="102A33"/>
                </a:solidFill>
                <a:latin typeface="Noto Sans"/>
              </a:defRPr>
            </a:pPr>
            <a:r>
              <a:t>período de 2026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3504" y="2496312"/>
            <a:ext cx="5349240" cy="3090672"/>
          </a:xfrm>
          <a:prstGeom prst="roundRect">
            <a:avLst>
              <a:gd name="adj" fmla="val 3500"/>
            </a:avLst>
          </a:prstGeom>
          <a:solidFill>
            <a:srgbClr val="FFF8E8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2761488"/>
            <a:ext cx="46177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800" b="1">
                <a:solidFill>
                  <a:srgbClr val="006D77"/>
                </a:solidFill>
                <a:latin typeface="Noto Sans"/>
              </a:defRPr>
            </a:pPr>
            <a:r>
              <a:t>Entradas conhecidas antes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0120" y="3419856"/>
            <a:ext cx="54864" cy="210312"/>
          </a:xfrm>
          <a:prstGeom prst="rect">
            <a:avLst/>
          </a:prstGeom>
          <a:solidFill>
            <a:srgbClr val="18B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70432" y="3346704"/>
            <a:ext cx="4379976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500" b="0">
                <a:solidFill>
                  <a:srgbClr val="102A33"/>
                </a:solidFill>
                <a:latin typeface="Noto Sans"/>
              </a:defRPr>
            </a:pPr>
            <a:r>
              <a:t>alimentadores e kit preparado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0120" y="3867912"/>
            <a:ext cx="54864" cy="210312"/>
          </a:xfrm>
          <a:prstGeom prst="rect">
            <a:avLst/>
          </a:prstGeom>
          <a:solidFill>
            <a:srgbClr val="18B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70432" y="3794760"/>
            <a:ext cx="4379976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500" b="0">
                <a:solidFill>
                  <a:srgbClr val="102A33"/>
                </a:solidFill>
                <a:latin typeface="Noto Sans"/>
              </a:defRPr>
            </a:pPr>
            <a:r>
              <a:t>experiência e componentes novos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0120" y="4315968"/>
            <a:ext cx="54864" cy="210312"/>
          </a:xfrm>
          <a:prstGeom prst="rect">
            <a:avLst/>
          </a:prstGeom>
          <a:solidFill>
            <a:srgbClr val="18B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70432" y="4242816"/>
            <a:ext cx="4379976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500" b="0">
                <a:solidFill>
                  <a:srgbClr val="102A33"/>
                </a:solidFill>
                <a:latin typeface="Noto Sans"/>
              </a:defRPr>
            </a:pPr>
            <a:r>
              <a:t>tamanho do lote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0120" y="4764024"/>
            <a:ext cx="54864" cy="210312"/>
          </a:xfrm>
          <a:prstGeom prst="rect">
            <a:avLst/>
          </a:prstGeom>
          <a:solidFill>
            <a:srgbClr val="18B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70432" y="4690872"/>
            <a:ext cx="4379976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500" b="0">
                <a:solidFill>
                  <a:srgbClr val="102A33"/>
                </a:solidFill>
                <a:latin typeface="Noto Sans"/>
              </a:defRPr>
            </a:pPr>
            <a:r>
              <a:t>linha, mudança de família e turno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36208" y="2496312"/>
            <a:ext cx="5349240" cy="3090672"/>
          </a:xfrm>
          <a:prstGeom prst="roundRect">
            <a:avLst>
              <a:gd name="adj" fmla="val 3500"/>
            </a:avLst>
          </a:prstGeom>
          <a:solidFill>
            <a:srgbClr val="FFF8E8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56248" y="2761488"/>
            <a:ext cx="452628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800" b="1">
                <a:solidFill>
                  <a:srgbClr val="006D77"/>
                </a:solidFill>
                <a:latin typeface="Noto Sans"/>
              </a:defRPr>
            </a:pPr>
            <a:r>
              <a:t>Divisão temporal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01968" y="3401568"/>
            <a:ext cx="64008" cy="237744"/>
          </a:xfrm>
          <a:prstGeom prst="rect">
            <a:avLst/>
          </a:prstGeom>
          <a:solidFill>
            <a:srgbClr val="18B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85432" y="3364992"/>
            <a:ext cx="12801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50" b="1">
                <a:solidFill>
                  <a:srgbClr val="102A33"/>
                </a:solidFill>
                <a:latin typeface="Noto Sans"/>
              </a:defRPr>
            </a:pPr>
            <a:r>
              <a:t>Treino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57031" y="3364992"/>
            <a:ext cx="658368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50" b="1">
                <a:solidFill>
                  <a:srgbClr val="006D77"/>
                </a:solidFill>
                <a:latin typeface="Noto Sans"/>
              </a:defRPr>
            </a:pPr>
            <a:r>
              <a:t>1.236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34272" y="3364992"/>
            <a:ext cx="1874519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50" b="0">
                <a:solidFill>
                  <a:srgbClr val="102A33"/>
                </a:solidFill>
                <a:latin typeface="Noto Sans"/>
              </a:defRPr>
            </a:pPr>
            <a:r>
              <a:t>05/01 a 27/05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01968" y="4023360"/>
            <a:ext cx="64008" cy="237744"/>
          </a:xfrm>
          <a:prstGeom prst="rect">
            <a:avLst/>
          </a:prstGeom>
          <a:solidFill>
            <a:srgbClr val="FFC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85432" y="3986784"/>
            <a:ext cx="12801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50" b="1">
                <a:solidFill>
                  <a:srgbClr val="102A33"/>
                </a:solidFill>
                <a:latin typeface="Noto Sans"/>
              </a:defRPr>
            </a:pPr>
            <a:r>
              <a:t>Validação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57031" y="3986784"/>
            <a:ext cx="658368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50" b="1">
                <a:solidFill>
                  <a:srgbClr val="006D77"/>
                </a:solidFill>
                <a:latin typeface="Noto Sans"/>
              </a:defRPr>
            </a:pPr>
            <a:r>
              <a:t>404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34272" y="3986784"/>
            <a:ext cx="1874519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50" b="0">
                <a:solidFill>
                  <a:srgbClr val="102A33"/>
                </a:solidFill>
                <a:latin typeface="Noto Sans"/>
              </a:defRPr>
            </a:pPr>
            <a:r>
              <a:t>28/05 a 15/07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601968" y="4645152"/>
            <a:ext cx="64008" cy="237744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85432" y="4608576"/>
            <a:ext cx="12801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50" b="1">
                <a:solidFill>
                  <a:srgbClr val="102A33"/>
                </a:solidFill>
                <a:latin typeface="Noto Sans"/>
              </a:defRPr>
            </a:pPr>
            <a:r>
              <a:t>Teste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57031" y="4608576"/>
            <a:ext cx="658368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50" b="1">
                <a:solidFill>
                  <a:srgbClr val="006D77"/>
                </a:solidFill>
                <a:latin typeface="Noto Sans"/>
              </a:defRPr>
            </a:pPr>
            <a:r>
              <a:t>403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34272" y="4608576"/>
            <a:ext cx="1874519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50" b="0">
                <a:solidFill>
                  <a:srgbClr val="102A33"/>
                </a:solidFill>
                <a:latin typeface="Noto Sans"/>
              </a:defRPr>
            </a:pPr>
            <a:r>
              <a:t>16/07 a 28/08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65392" y="5129784"/>
            <a:ext cx="45262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300" b="1">
                <a:solidFill>
                  <a:srgbClr val="FF6448"/>
                </a:solidFill>
                <a:latin typeface="Noto Sans"/>
              </a:defRPr>
            </a:pPr>
            <a:r>
              <a:t>Teste reservado até o final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54512" y="6437376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950" b="1">
                <a:solidFill>
                  <a:srgbClr val="FFF8E8"/>
                </a:solidFill>
                <a:latin typeface="Noto Sans"/>
              </a:defRPr>
            </a:pPr>
            <a:r>
              <a:t>05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3540" y="3794760"/>
            <a:ext cx="5760720" cy="2880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320040"/>
            <a:ext cx="4389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006D77"/>
                </a:solidFill>
                <a:latin typeface="Noto Sans"/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"/>
            <a:ext cx="10168128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450" b="1">
                <a:solidFill>
                  <a:srgbClr val="006D77"/>
                </a:solidFill>
                <a:latin typeface="Noto Sans"/>
              </a:defRPr>
            </a:pPr>
            <a:r>
              <a:t>Limpeza e relações principais</a:t>
            </a:r>
          </a:p>
        </p:txBody>
      </p:sp>
      <p:pic>
        <p:nvPicPr>
          <p:cNvPr id="5" name="Picture 4" descr="02_relacoes_principa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18250"/>
            <a:ext cx="6537960" cy="265573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223760" y="1078992"/>
            <a:ext cx="4407408" cy="1929384"/>
          </a:xfrm>
          <a:prstGeom prst="roundRect">
            <a:avLst>
              <a:gd name="adj" fmla="val 3500"/>
            </a:avLst>
          </a:prstGeom>
          <a:solidFill>
            <a:srgbClr val="CDE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16368" y="1344168"/>
            <a:ext cx="37947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800" b="1">
                <a:solidFill>
                  <a:srgbClr val="006D77"/>
                </a:solidFill>
                <a:latin typeface="Noto Sans"/>
              </a:defRPr>
            </a:pPr>
            <a:r>
              <a:t>O que foi tratado</a:t>
            </a:r>
          </a:p>
        </p:txBody>
      </p:sp>
      <p:sp>
        <p:nvSpPr>
          <p:cNvPr id="8" name="Rectangle 7"/>
          <p:cNvSpPr/>
          <p:nvPr/>
        </p:nvSpPr>
        <p:spPr>
          <a:xfrm>
            <a:off x="7525511" y="1865376"/>
            <a:ext cx="54864" cy="210312"/>
          </a:xfrm>
          <a:prstGeom prst="rect">
            <a:avLst/>
          </a:prstGeom>
          <a:solidFill>
            <a:srgbClr val="18B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35823" y="1792224"/>
            <a:ext cx="35112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280" b="0">
                <a:solidFill>
                  <a:srgbClr val="102A33"/>
                </a:solidFill>
                <a:latin typeface="Noto Sans"/>
              </a:defRPr>
            </a:pPr>
            <a:r>
              <a:t>14 duplicatas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25511" y="2139696"/>
            <a:ext cx="54864" cy="210312"/>
          </a:xfrm>
          <a:prstGeom prst="rect">
            <a:avLst/>
          </a:prstGeom>
          <a:solidFill>
            <a:srgbClr val="18B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35823" y="2066543"/>
            <a:ext cx="35112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280" b="0">
                <a:solidFill>
                  <a:srgbClr val="102A33"/>
                </a:solidFill>
                <a:latin typeface="Noto Sans"/>
              </a:defRPr>
            </a:pPr>
            <a:r>
              <a:t>grafias e datas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5511" y="2414016"/>
            <a:ext cx="54864" cy="210312"/>
          </a:xfrm>
          <a:prstGeom prst="rect">
            <a:avLst/>
          </a:prstGeom>
          <a:solidFill>
            <a:srgbClr val="18B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35823" y="2340864"/>
            <a:ext cx="35112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280" b="0">
                <a:solidFill>
                  <a:srgbClr val="102A33"/>
                </a:solidFill>
                <a:latin typeface="Noto Sans"/>
              </a:defRPr>
            </a:pPr>
            <a:r>
              <a:t>vazios e código 9999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25511" y="2688336"/>
            <a:ext cx="54864" cy="210312"/>
          </a:xfrm>
          <a:prstGeom prst="rect">
            <a:avLst/>
          </a:prstGeom>
          <a:solidFill>
            <a:srgbClr val="18B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35823" y="2615184"/>
            <a:ext cx="35112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280" b="0">
                <a:solidFill>
                  <a:srgbClr val="102A33"/>
                </a:solidFill>
                <a:latin typeface="Noto Sans"/>
              </a:defRPr>
            </a:pPr>
            <a:r>
              <a:t>medidas impossíveis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23760" y="3236976"/>
            <a:ext cx="4407408" cy="2221992"/>
          </a:xfrm>
          <a:prstGeom prst="roundRect">
            <a:avLst>
              <a:gd name="adj" fmla="val 3500"/>
            </a:avLst>
          </a:prstGeom>
          <a:solidFill>
            <a:srgbClr val="F8D2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16368" y="3511296"/>
            <a:ext cx="37947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800" b="1">
                <a:solidFill>
                  <a:srgbClr val="006D77"/>
                </a:solidFill>
                <a:latin typeface="Noto Sans"/>
              </a:defRPr>
            </a:pPr>
            <a:r>
              <a:t>O que os gráficos sugerem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25511" y="4078224"/>
            <a:ext cx="54864" cy="210312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35823" y="4005072"/>
            <a:ext cx="351129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320" b="0">
                <a:solidFill>
                  <a:srgbClr val="102A33"/>
                </a:solidFill>
                <a:latin typeface="Noto Sans"/>
              </a:defRPr>
            </a:pPr>
            <a:r>
              <a:t>kit preparado encurta a troca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25511" y="4434840"/>
            <a:ext cx="54864" cy="210312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35823" y="4361688"/>
            <a:ext cx="351129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320" b="0">
                <a:solidFill>
                  <a:srgbClr val="102A33"/>
                </a:solidFill>
                <a:latin typeface="Noto Sans"/>
              </a:defRPr>
            </a:pPr>
            <a:r>
              <a:t>mais alimentadores alongam a troca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25511" y="4791456"/>
            <a:ext cx="54864" cy="210312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35823" y="4718304"/>
            <a:ext cx="3511296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320" b="0">
                <a:solidFill>
                  <a:srgbClr val="102A33"/>
                </a:solidFill>
                <a:latin typeface="Noto Sans"/>
              </a:defRPr>
            </a:pPr>
            <a:r>
              <a:t>associação não prova causa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25880" y="5650992"/>
            <a:ext cx="9528048" cy="502920"/>
          </a:xfrm>
          <a:prstGeom prst="roundRect">
            <a:avLst>
              <a:gd name="adj" fmla="val 3500"/>
            </a:avLst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72768" y="5769864"/>
            <a:ext cx="9034272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FFF8E8"/>
                </a:solidFill>
                <a:latin typeface="Noto Sans"/>
              </a:defRPr>
            </a:pPr>
            <a:r>
              <a:t>A coluna posterior ao evento ficou fora dos modelos.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4512" y="6437376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950" b="1">
                <a:solidFill>
                  <a:srgbClr val="006D77"/>
                </a:solidFill>
                <a:latin typeface="Noto Sans"/>
              </a:defRPr>
            </a:pPr>
            <a:r>
              <a:t>06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3540" y="3794760"/>
            <a:ext cx="5760720" cy="2880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320040"/>
            <a:ext cx="4389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006D77"/>
                </a:solidFill>
                <a:latin typeface="Noto Sans"/>
              </a:defRPr>
            </a:pPr>
            <a: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"/>
            <a:ext cx="10168128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450" b="1">
                <a:solidFill>
                  <a:srgbClr val="006D77"/>
                </a:solidFill>
                <a:latin typeface="Noto Sans"/>
              </a:defRPr>
            </a:pPr>
            <a:r>
              <a:t>Resultado 1 · Quantos minutos?</a:t>
            </a:r>
          </a:p>
        </p:txBody>
      </p:sp>
      <p:pic>
        <p:nvPicPr>
          <p:cNvPr id="5" name="Picture 4" descr="04_comparacao_regress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" y="1707025"/>
            <a:ext cx="6611112" cy="336165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205472" y="1216152"/>
            <a:ext cx="4453128" cy="113385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61504" y="1362456"/>
            <a:ext cx="3941063" cy="41148"/>
          </a:xfrm>
          <a:prstGeom prst="rect">
            <a:avLst/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61504" y="1490472"/>
            <a:ext cx="3941063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500" b="1">
                <a:solidFill>
                  <a:srgbClr val="006D77"/>
                </a:solidFill>
                <a:latin typeface="Noto Sans"/>
              </a:defRPr>
            </a:pPr>
            <a:r>
              <a:t>2,66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61504" y="1965960"/>
            <a:ext cx="3941063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250" b="0">
                <a:solidFill>
                  <a:srgbClr val="102A33"/>
                </a:solidFill>
                <a:latin typeface="Noto Sans"/>
              </a:defRPr>
            </a:pPr>
            <a:r>
              <a:t>erro médio da árvore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5472" y="2587752"/>
            <a:ext cx="4453128" cy="113385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61504" y="2734056"/>
            <a:ext cx="3941063" cy="41148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61504" y="2862072"/>
            <a:ext cx="3941063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500" b="1">
                <a:solidFill>
                  <a:srgbClr val="FF6448"/>
                </a:solidFill>
                <a:latin typeface="Noto Sans"/>
              </a:defRPr>
            </a:pPr>
            <a:r>
              <a:t>67,4%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61504" y="3337560"/>
            <a:ext cx="3941063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250" b="0">
                <a:solidFill>
                  <a:srgbClr val="102A33"/>
                </a:solidFill>
                <a:latin typeface="Noto Sans"/>
              </a:defRPr>
            </a:pPr>
            <a:r>
              <a:t>menos erro que a referência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05472" y="3959352"/>
            <a:ext cx="4453128" cy="113385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61504" y="4105656"/>
            <a:ext cx="3941063" cy="41148"/>
          </a:xfrm>
          <a:prstGeom prst="rect">
            <a:avLst/>
          </a:prstGeom>
          <a:solidFill>
            <a:srgbClr val="36A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61504" y="4233672"/>
            <a:ext cx="3941063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500" b="1">
                <a:solidFill>
                  <a:srgbClr val="36A9E1"/>
                </a:solidFill>
                <a:latin typeface="Noto Sans"/>
              </a:defRPr>
            </a:pPr>
            <a:r>
              <a:t>R² 0,884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504" y="4709160"/>
            <a:ext cx="3941063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250" b="0">
                <a:solidFill>
                  <a:srgbClr val="102A33"/>
                </a:solidFill>
                <a:latin typeface="Noto Sans"/>
              </a:defRPr>
            </a:pPr>
            <a:r>
              <a:t>no período de teste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07592" y="5641848"/>
            <a:ext cx="9537192" cy="502920"/>
          </a:xfrm>
          <a:prstGeom prst="roundRect">
            <a:avLst>
              <a:gd name="adj" fmla="val 3500"/>
            </a:avLst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36192" y="5760720"/>
            <a:ext cx="9070848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FFF8E8"/>
                </a:solidFill>
                <a:latin typeface="Noto Sans"/>
              </a:defRPr>
            </a:pPr>
            <a:r>
              <a:t>A árvore de profundidade 7 foi escolhida na validação.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4512" y="6437376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950" b="1">
                <a:solidFill>
                  <a:srgbClr val="006D77"/>
                </a:solidFill>
                <a:latin typeface="Noto Sans"/>
              </a:defRPr>
            </a:pPr>
            <a:r>
              <a:t>07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3540" y="3794760"/>
            <a:ext cx="5760720" cy="2880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320040"/>
            <a:ext cx="4389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006D77"/>
                </a:solidFill>
                <a:latin typeface="Noto Sans"/>
              </a:defRPr>
            </a:pPr>
            <a: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"/>
            <a:ext cx="10168128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450" b="1">
                <a:solidFill>
                  <a:srgbClr val="006D77"/>
                </a:solidFill>
                <a:latin typeface="Noto Sans"/>
              </a:defRPr>
            </a:pPr>
            <a:r>
              <a:t>Resultado 2 · Vai passar de 42 minutos?</a:t>
            </a:r>
          </a:p>
        </p:txBody>
      </p:sp>
      <p:pic>
        <p:nvPicPr>
          <p:cNvPr id="5" name="Picture 4" descr="06_matriz_confus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293169"/>
            <a:ext cx="5806440" cy="439967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47104" y="1179576"/>
            <a:ext cx="5020056" cy="996696"/>
          </a:xfrm>
          <a:prstGeom prst="roundRect">
            <a:avLst>
              <a:gd name="adj" fmla="val 3500"/>
            </a:avLst>
          </a:prstGeom>
          <a:solidFill>
            <a:srgbClr val="CDEDE3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21424" y="1307592"/>
            <a:ext cx="4471416" cy="41148"/>
          </a:xfrm>
          <a:prstGeom prst="rect">
            <a:avLst/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21424" y="1408176"/>
            <a:ext cx="4471416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400" b="1">
                <a:solidFill>
                  <a:srgbClr val="006D77"/>
                </a:solidFill>
                <a:latin typeface="Noto Sans"/>
              </a:defRPr>
            </a:pPr>
            <a:r>
              <a:t>89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21424" y="1801368"/>
            <a:ext cx="4471416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280" b="0">
                <a:solidFill>
                  <a:srgbClr val="102A33"/>
                </a:solidFill>
                <a:latin typeface="Noto Sans"/>
              </a:defRPr>
            </a:pPr>
            <a:r>
              <a:t>trocas demoradas encontradas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47104" y="2377440"/>
            <a:ext cx="5020056" cy="996696"/>
          </a:xfrm>
          <a:prstGeom prst="roundRect">
            <a:avLst>
              <a:gd name="adj" fmla="val 3500"/>
            </a:avLst>
          </a:prstGeom>
          <a:solidFill>
            <a:srgbClr val="F8D2C8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21424" y="2505456"/>
            <a:ext cx="4471416" cy="41148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21424" y="2606040"/>
            <a:ext cx="4471416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400" b="1">
                <a:solidFill>
                  <a:srgbClr val="FF6448"/>
                </a:solidFill>
                <a:latin typeface="Noto Sans"/>
              </a:defRPr>
            </a:pPr>
            <a:r>
              <a:t>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21424" y="2999232"/>
            <a:ext cx="4471416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280" b="0">
                <a:solidFill>
                  <a:srgbClr val="102A33"/>
                </a:solidFill>
                <a:latin typeface="Noto Sans"/>
              </a:defRPr>
            </a:pPr>
            <a:r>
              <a:t>trocas demoradas perdidas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47104" y="3575304"/>
            <a:ext cx="5020056" cy="996696"/>
          </a:xfrm>
          <a:prstGeom prst="roundRect">
            <a:avLst>
              <a:gd name="adj" fmla="val 3500"/>
            </a:avLst>
          </a:prstGeom>
          <a:solidFill>
            <a:srgbClr val="C7E9F8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21424" y="3703320"/>
            <a:ext cx="4471416" cy="41148"/>
          </a:xfrm>
          <a:prstGeom prst="rect">
            <a:avLst/>
          </a:prstGeom>
          <a:solidFill>
            <a:srgbClr val="36A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21424" y="3803904"/>
            <a:ext cx="4471416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400" b="1">
                <a:solidFill>
                  <a:srgbClr val="36A9E1"/>
                </a:solidFill>
                <a:latin typeface="Noto Sans"/>
              </a:defRPr>
            </a:pPr>
            <a:r>
              <a:t>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21424" y="4197096"/>
            <a:ext cx="4471416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280" b="0">
                <a:solidFill>
                  <a:srgbClr val="102A33"/>
                </a:solidFill>
                <a:latin typeface="Noto Sans"/>
              </a:defRPr>
            </a:pPr>
            <a:r>
              <a:t>falsos alarmes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47104" y="4773168"/>
            <a:ext cx="5020056" cy="960120"/>
          </a:xfrm>
          <a:prstGeom prst="roundRect">
            <a:avLst>
              <a:gd name="adj" fmla="val 3500"/>
            </a:avLst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93992" y="5074920"/>
            <a:ext cx="45262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320" b="1">
                <a:solidFill>
                  <a:srgbClr val="FFF8E8"/>
                </a:solidFill>
                <a:latin typeface="Noto Sans"/>
              </a:defRPr>
            </a:pPr>
            <a:r>
              <a:t>Recall 87,3%  ·  Precisão 74,2%  ·  F1 80,2%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4512" y="6437376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950" b="1">
                <a:solidFill>
                  <a:srgbClr val="006D77"/>
                </a:solidFill>
                <a:latin typeface="Noto Sans"/>
              </a:defRPr>
            </a:pPr>
            <a:r>
              <a:t>08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3540" y="3794760"/>
            <a:ext cx="5760720" cy="2880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320040"/>
            <a:ext cx="4389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FF8E8"/>
                </a:solidFill>
                <a:latin typeface="Noto Sans"/>
              </a:defRPr>
            </a:pPr>
            <a: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"/>
            <a:ext cx="10168128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450" b="1">
                <a:solidFill>
                  <a:srgbClr val="FFF8E8"/>
                </a:solidFill>
                <a:latin typeface="Noto Sans"/>
              </a:defRPr>
            </a:pPr>
            <a:r>
              <a:t>Demonstração do notebook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005840"/>
            <a:ext cx="7360920" cy="518464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review-noteboo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1222248"/>
            <a:ext cx="7141464" cy="476097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74736" y="1188720"/>
            <a:ext cx="3447288" cy="1234440"/>
          </a:xfrm>
          <a:prstGeom prst="roundRect">
            <a:avLst>
              <a:gd name="adj" fmla="val 3500"/>
            </a:avLst>
          </a:prstGeom>
          <a:solidFill>
            <a:srgbClr val="FFF8E8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30768" y="1344168"/>
            <a:ext cx="2935224" cy="41148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30768" y="1463040"/>
            <a:ext cx="293522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950" b="1">
                <a:solidFill>
                  <a:srgbClr val="FF6448"/>
                </a:solidFill>
                <a:latin typeface="Noto San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30768" y="1691640"/>
            <a:ext cx="2935224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006D77"/>
                </a:solidFill>
                <a:latin typeface="Noto Sans"/>
              </a:defRPr>
            </a:pPr>
            <a:r>
              <a:t>Limpeza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30768" y="1993392"/>
            <a:ext cx="2935224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20" b="0">
                <a:solidFill>
                  <a:srgbClr val="102A33"/>
                </a:solidFill>
                <a:latin typeface="Noto Sans"/>
              </a:defRPr>
            </a:pPr>
            <a:r>
              <a:t>cada problema é observado e conferido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74736" y="2715768"/>
            <a:ext cx="3447288" cy="1234440"/>
          </a:xfrm>
          <a:prstGeom prst="roundRect">
            <a:avLst>
              <a:gd name="adj" fmla="val 3500"/>
            </a:avLst>
          </a:prstGeom>
          <a:solidFill>
            <a:srgbClr val="FFF8E8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30768" y="2871215"/>
            <a:ext cx="2935224" cy="41148"/>
          </a:xfrm>
          <a:prstGeom prst="rect">
            <a:avLst/>
          </a:prstGeom>
          <a:solidFill>
            <a:srgbClr val="FFC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30768" y="2990087"/>
            <a:ext cx="293522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950" b="1">
                <a:solidFill>
                  <a:srgbClr val="FFC43D"/>
                </a:solidFill>
                <a:latin typeface="Noto Sans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30768" y="3218687"/>
            <a:ext cx="2935224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006D77"/>
                </a:solidFill>
                <a:latin typeface="Noto Sans"/>
              </a:defRPr>
            </a:pPr>
            <a:r>
              <a:t>Modelos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8" y="3520439"/>
            <a:ext cx="2935224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20" b="0">
                <a:solidFill>
                  <a:srgbClr val="102A33"/>
                </a:solidFill>
                <a:latin typeface="Noto Sans"/>
              </a:defRPr>
            </a:pPr>
            <a:r>
              <a:t>referência, regressão linear e árvores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74736" y="4242816"/>
            <a:ext cx="3447288" cy="1234440"/>
          </a:xfrm>
          <a:prstGeom prst="roundRect">
            <a:avLst>
              <a:gd name="adj" fmla="val 3500"/>
            </a:avLst>
          </a:prstGeom>
          <a:solidFill>
            <a:srgbClr val="FFF8E8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430768" y="4398264"/>
            <a:ext cx="2935224" cy="41148"/>
          </a:xfrm>
          <a:prstGeom prst="rect">
            <a:avLst/>
          </a:prstGeom>
          <a:solidFill>
            <a:srgbClr val="36A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0768" y="4517136"/>
            <a:ext cx="293522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950" b="1">
                <a:solidFill>
                  <a:srgbClr val="36A9E1"/>
                </a:solidFill>
                <a:latin typeface="Noto Sans"/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8" y="4745736"/>
            <a:ext cx="2935224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500" b="1">
                <a:solidFill>
                  <a:srgbClr val="006D77"/>
                </a:solidFill>
                <a:latin typeface="Noto Sans"/>
              </a:defRPr>
            </a:pPr>
            <a:r>
              <a:t>Entrega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0768" y="5047488"/>
            <a:ext cx="2935224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20" b="0">
                <a:solidFill>
                  <a:srgbClr val="102A33"/>
                </a:solidFill>
                <a:latin typeface="Noto Sans"/>
              </a:defRPr>
            </a:pPr>
            <a:r>
              <a:t>células executadas e resultados reproduzíveis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4512" y="6437376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950" b="1">
                <a:solidFill>
                  <a:srgbClr val="FFF8E8"/>
                </a:solidFill>
                <a:latin typeface="Noto Sans"/>
              </a:defRPr>
            </a:pPr>
            <a:r>
              <a:t>09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3540" y="3794760"/>
            <a:ext cx="5760720" cy="2880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320040"/>
            <a:ext cx="4389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006D77"/>
                </a:solidFill>
                <a:latin typeface="Noto Sans"/>
              </a:defRPr>
            </a:pPr>
            <a: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"/>
            <a:ext cx="10168128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450" b="1">
                <a:solidFill>
                  <a:srgbClr val="006D77"/>
                </a:solidFill>
                <a:latin typeface="Noto Sans"/>
              </a:defRPr>
            </a:pPr>
            <a:r>
              <a:t>Entregáveis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152144"/>
            <a:ext cx="3218688" cy="47548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50976" y="1417320"/>
            <a:ext cx="2596896" cy="50292"/>
          </a:xfrm>
          <a:prstGeom prst="rect">
            <a:avLst/>
          </a:prstGeom>
          <a:solidFill>
            <a:srgbClr val="36A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00784"/>
            <a:ext cx="2706624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800" b="1">
                <a:solidFill>
                  <a:srgbClr val="006D77"/>
                </a:solidFill>
                <a:latin typeface="Noto Sans"/>
              </a:defRPr>
            </a:pPr>
            <a:r>
              <a:t>Notebook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2167128"/>
            <a:ext cx="2596896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50" b="0">
                <a:solidFill>
                  <a:srgbClr val="102A33"/>
                </a:solidFill>
                <a:latin typeface="Noto Sans"/>
              </a:defRPr>
            </a:pPr>
            <a:r>
              <a:t>entrega principal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78808" y="1152144"/>
            <a:ext cx="3218688" cy="47548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89704" y="1417320"/>
            <a:ext cx="2596896" cy="50292"/>
          </a:xfrm>
          <a:prstGeom prst="rect">
            <a:avLst/>
          </a:prstGeom>
          <a:solidFill>
            <a:srgbClr val="18B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700784"/>
            <a:ext cx="2706624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800" b="1">
                <a:solidFill>
                  <a:srgbClr val="006D77"/>
                </a:solidFill>
                <a:latin typeface="Noto Sans"/>
              </a:defRPr>
            </a:pPr>
            <a:r>
              <a:t>Apresentação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9704" y="2167128"/>
            <a:ext cx="2596896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50" b="0">
                <a:solidFill>
                  <a:srgbClr val="102A33"/>
                </a:solidFill>
                <a:latin typeface="Noto Sans"/>
              </a:defRPr>
            </a:pPr>
            <a:r>
              <a:t>PPTX e PDF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17536" y="1152144"/>
            <a:ext cx="3218688" cy="47548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240">
            <a:solidFill>
              <a:srgbClr val="CDE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28431" y="1417320"/>
            <a:ext cx="2596896" cy="50292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73567" y="1700784"/>
            <a:ext cx="2706624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800" b="1">
                <a:solidFill>
                  <a:srgbClr val="006D77"/>
                </a:solidFill>
                <a:latin typeface="Noto Sans"/>
              </a:defRPr>
            </a:pPr>
            <a:r>
              <a:t>Relatório técnico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1" y="2167128"/>
            <a:ext cx="2596896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150" b="0">
                <a:solidFill>
                  <a:srgbClr val="102A33"/>
                </a:solidFill>
                <a:latin typeface="Noto Sans"/>
              </a:defRPr>
            </a:pPr>
            <a:r>
              <a:t>material complementar</a:t>
            </a:r>
          </a:p>
        </p:txBody>
      </p:sp>
      <p:pic>
        <p:nvPicPr>
          <p:cNvPr id="17" name="Picture 16" descr="preview-noteboo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2962656"/>
            <a:ext cx="2633472" cy="1755648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1728" y="2670048"/>
            <a:ext cx="2212848" cy="2212848"/>
          </a:xfrm>
          <a:prstGeom prst="rect">
            <a:avLst/>
          </a:prstGeom>
        </p:spPr>
      </p:pic>
      <p:pic>
        <p:nvPicPr>
          <p:cNvPr id="19" name="Picture 18" descr="preview-relatori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22792" y="2643530"/>
            <a:ext cx="1408176" cy="1991563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8558784" y="5010912"/>
            <a:ext cx="1554480" cy="402336"/>
          </a:xfrm>
          <a:prstGeom prst="roundRect">
            <a:avLst>
              <a:gd name="adj" fmla="val 3500"/>
            </a:avLst>
          </a:prstGeom>
          <a:solidFill>
            <a:srgbClr val="FFC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58784" y="510235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defRPr sz="1050" b="1">
                <a:solidFill>
                  <a:srgbClr val="102A33"/>
                </a:solidFill>
                <a:latin typeface="Noto Sans"/>
              </a:defRPr>
            </a:pPr>
            <a:r>
              <a:t>BÔNUS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6144768"/>
            <a:ext cx="72237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300" b="1">
                <a:solidFill>
                  <a:srgbClr val="006D77"/>
                </a:solidFill>
                <a:latin typeface="Noto Sans"/>
              </a:defRPr>
            </a:pPr>
            <a:r>
              <a:t>Todos os arquivos estão organizados no repositório.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4512" y="6437376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950" b="1">
                <a:solidFill>
                  <a:srgbClr val="006D77"/>
                </a:solidFill>
                <a:latin typeface="Noto Sans"/>
              </a:defRPr>
            </a:pPr>
            <a: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3540" y="3794760"/>
            <a:ext cx="5760720" cy="28803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0624" y="320040"/>
            <a:ext cx="4389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006D77"/>
                </a:solidFill>
                <a:latin typeface="Noto Sans"/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"/>
            <a:ext cx="10168128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450" b="1">
                <a:solidFill>
                  <a:srgbClr val="006D77"/>
                </a:solidFill>
                <a:latin typeface="Noto Sans"/>
              </a:defRPr>
            </a:pPr>
            <a:r>
              <a:t>Decisão apoiada e aprendizados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078992"/>
            <a:ext cx="6528816" cy="4498848"/>
          </a:xfrm>
          <a:prstGeom prst="roundRect">
            <a:avLst>
              <a:gd name="adj" fmla="val 3500"/>
            </a:avLst>
          </a:prstGeom>
          <a:solidFill>
            <a:srgbClr val="006D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417320"/>
            <a:ext cx="5797296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100" b="1">
                <a:solidFill>
                  <a:srgbClr val="FFF8E8"/>
                </a:solidFill>
                <a:latin typeface="Noto Sans"/>
              </a:defRPr>
            </a:pPr>
            <a:r>
              <a:t>Como usar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2057400"/>
            <a:ext cx="64008" cy="310896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35024" y="2084832"/>
            <a:ext cx="43891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050" b="1">
                <a:solidFill>
                  <a:srgbClr val="FF6448"/>
                </a:solidFill>
                <a:latin typeface="Noto Sans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01952" y="2048256"/>
            <a:ext cx="4590288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0">
                <a:solidFill>
                  <a:srgbClr val="FFF8E8"/>
                </a:solidFill>
                <a:latin typeface="Noto Sans"/>
              </a:defRPr>
            </a:pPr>
            <a:r>
              <a:t>Calcular o risco antes da troca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2788920"/>
            <a:ext cx="64008" cy="310896"/>
          </a:xfrm>
          <a:prstGeom prst="rect">
            <a:avLst/>
          </a:prstGeom>
          <a:solidFill>
            <a:srgbClr val="FFC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35024" y="2816352"/>
            <a:ext cx="43891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050" b="1">
                <a:solidFill>
                  <a:srgbClr val="FFC43D"/>
                </a:solidFill>
                <a:latin typeface="Noto Sans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01952" y="2779776"/>
            <a:ext cx="4590288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0">
                <a:solidFill>
                  <a:srgbClr val="FFF8E8"/>
                </a:solidFill>
                <a:latin typeface="Noto Sans"/>
              </a:defRPr>
            </a:pPr>
            <a:r>
              <a:t>Ordenar as trocas mais arriscadas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520440"/>
            <a:ext cx="64008" cy="310896"/>
          </a:xfrm>
          <a:prstGeom prst="rect">
            <a:avLst/>
          </a:prstGeom>
          <a:solidFill>
            <a:srgbClr val="36A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35024" y="3547872"/>
            <a:ext cx="43891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050" b="1">
                <a:solidFill>
                  <a:srgbClr val="36A9E1"/>
                </a:solidFill>
                <a:latin typeface="Noto Sans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1952" y="3511296"/>
            <a:ext cx="4590288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F8E8"/>
                </a:solidFill>
                <a:latin typeface="Noto Sans"/>
              </a:defRPr>
            </a:pPr>
            <a:r>
              <a:t>Direcionar apoio com decisão humana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7280" y="4251960"/>
            <a:ext cx="64008" cy="310896"/>
          </a:xfrm>
          <a:prstGeom prst="rect">
            <a:avLst/>
          </a:prstGeom>
          <a:solidFill>
            <a:srgbClr val="18B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35024" y="4279392"/>
            <a:ext cx="43891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050" b="1">
                <a:solidFill>
                  <a:srgbClr val="18B889"/>
                </a:solidFill>
                <a:latin typeface="Noto Sans"/>
              </a:defRPr>
            </a:pPr>
            <a: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01952" y="4242816"/>
            <a:ext cx="4590288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0">
                <a:solidFill>
                  <a:srgbClr val="FFF8E8"/>
                </a:solidFill>
                <a:latin typeface="Noto Sans"/>
              </a:defRPr>
            </a:pPr>
            <a:r>
              <a:t>Monitorar perdas e falsos alarmes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52360" y="1078992"/>
            <a:ext cx="4078224" cy="1965960"/>
          </a:xfrm>
          <a:prstGeom prst="roundRect">
            <a:avLst>
              <a:gd name="adj" fmla="val 3500"/>
            </a:avLst>
          </a:prstGeom>
          <a:solidFill>
            <a:srgbClr val="CDE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54112" y="1353312"/>
            <a:ext cx="34290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800" b="1">
                <a:solidFill>
                  <a:srgbClr val="006D77"/>
                </a:solidFill>
                <a:latin typeface="Noto Sans"/>
              </a:defRPr>
            </a:pPr>
            <a:r>
              <a:t>Pontos de aprendizado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81544" y="1929384"/>
            <a:ext cx="54864" cy="210312"/>
          </a:xfrm>
          <a:prstGeom prst="rect">
            <a:avLst/>
          </a:prstGeom>
          <a:solidFill>
            <a:srgbClr val="18B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91856" y="1856231"/>
            <a:ext cx="309981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340" b="0">
                <a:solidFill>
                  <a:srgbClr val="102A33"/>
                </a:solidFill>
                <a:latin typeface="Noto Sans"/>
              </a:defRPr>
            </a:pPr>
            <a:r>
              <a:t>avaliar no tempo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81544" y="2240279"/>
            <a:ext cx="54864" cy="210312"/>
          </a:xfrm>
          <a:prstGeom prst="rect">
            <a:avLst/>
          </a:prstGeom>
          <a:solidFill>
            <a:srgbClr val="18B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91856" y="2167127"/>
            <a:ext cx="309981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340" b="0">
                <a:solidFill>
                  <a:srgbClr val="102A33"/>
                </a:solidFill>
                <a:latin typeface="Noto Sans"/>
              </a:defRPr>
            </a:pPr>
            <a:r>
              <a:t>comparar com referência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81544" y="2551176"/>
            <a:ext cx="54864" cy="210312"/>
          </a:xfrm>
          <a:prstGeom prst="rect">
            <a:avLst/>
          </a:prstGeom>
          <a:solidFill>
            <a:srgbClr val="18B8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91856" y="2478024"/>
            <a:ext cx="309981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340" b="0">
                <a:solidFill>
                  <a:srgbClr val="102A33"/>
                </a:solidFill>
                <a:latin typeface="Noto Sans"/>
              </a:defRPr>
            </a:pPr>
            <a:r>
              <a:t>evitar vazamento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52360" y="3273552"/>
            <a:ext cx="4078224" cy="2304288"/>
          </a:xfrm>
          <a:prstGeom prst="roundRect">
            <a:avLst>
              <a:gd name="adj" fmla="val 3500"/>
            </a:avLst>
          </a:prstGeom>
          <a:solidFill>
            <a:srgbClr val="F8D2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54112" y="3547872"/>
            <a:ext cx="34290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1800" b="1">
                <a:solidFill>
                  <a:srgbClr val="006D77"/>
                </a:solidFill>
                <a:latin typeface="Noto Sans"/>
              </a:defRPr>
            </a:pPr>
            <a:r>
              <a:t>Limites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81544" y="4123944"/>
            <a:ext cx="54864" cy="210312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91856" y="4050791"/>
            <a:ext cx="3099815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340" b="0">
                <a:solidFill>
                  <a:srgbClr val="102A33"/>
                </a:solidFill>
                <a:latin typeface="Noto Sans"/>
              </a:defRPr>
            </a:pPr>
            <a:r>
              <a:t>dados sintéticos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81544" y="4471416"/>
            <a:ext cx="54864" cy="210312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91856" y="4398264"/>
            <a:ext cx="3099815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340" b="0">
                <a:solidFill>
                  <a:srgbClr val="102A33"/>
                </a:solidFill>
                <a:latin typeface="Noto Sans"/>
              </a:defRPr>
            </a:pPr>
            <a:r>
              <a:t>sem prova causal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81544" y="4818888"/>
            <a:ext cx="54864" cy="210312"/>
          </a:xfrm>
          <a:prstGeom prst="rect">
            <a:avLst/>
          </a:prstGeom>
          <a:solidFill>
            <a:srgbClr val="FF64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91856" y="4745736"/>
            <a:ext cx="3099815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defRPr sz="1340" b="0">
                <a:solidFill>
                  <a:srgbClr val="102A33"/>
                </a:solidFill>
                <a:latin typeface="Noto Sans"/>
              </a:defRPr>
            </a:pPr>
            <a:r>
              <a:t>validar antes do uso real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89504" y="5779008"/>
            <a:ext cx="644652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defRPr sz="2100" b="1">
                <a:solidFill>
                  <a:srgbClr val="006D77"/>
                </a:solidFill>
                <a:latin typeface="Noto Sans"/>
              </a:defRPr>
            </a:pPr>
            <a:r>
              <a:t>Prever cedo para apoiar melhor.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54512" y="6437376"/>
            <a:ext cx="84124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defRPr sz="950" b="1">
                <a:solidFill>
                  <a:srgbClr val="006D77"/>
                </a:solidFill>
                <a:latin typeface="Noto Sans"/>
              </a:defRPr>
            </a:pPr>
            <a: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
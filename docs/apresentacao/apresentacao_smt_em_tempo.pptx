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pic>
        <p:nvPicPr>
          <p:cNvPr id="3" name="Picture 2" descr="logo-smt-em-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115568"/>
            <a:ext cx="3246120" cy="3246120"/>
          </a:xfrm>
          <a:prstGeom prst="rect">
            <a:avLst/>
          </a:prstGeom>
        </p:spPr>
      </p:pic>
      <p:pic>
        <p:nvPicPr>
          <p:cNvPr id="4" name="Picture 3" descr="logo-u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227599"/>
            <a:ext cx="1051560" cy="532352"/>
          </a:xfrm>
          <a:prstGeom prst="rect">
            <a:avLst/>
          </a:prstGeom>
        </p:spPr>
      </p:pic>
      <p:pic>
        <p:nvPicPr>
          <p:cNvPr id="5" name="Picture 4" descr="logo-sialab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6768" y="185217"/>
            <a:ext cx="841248" cy="598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90288" y="1051560"/>
            <a:ext cx="6309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400" b="1">
                <a:solidFill>
                  <a:srgbClr val="006D77"/>
                </a:solidFill>
                <a:latin typeface="Noto Sans"/>
              </a:defRPr>
            </a:pPr>
            <a:r>
              <a:t>SMT em Tempo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61722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0">
                <a:solidFill>
                  <a:srgbClr val="102A33"/>
                </a:solidFill>
                <a:latin typeface="Noto Sans"/>
              </a:defRPr>
            </a:pPr>
            <a:r>
              <a:t>Quais trocas de produto precisam de apoio antes de começar?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3712" y="2980944"/>
            <a:ext cx="6355080" cy="1298448"/>
          </a:xfrm>
          <a:prstGeom prst="roundRect">
            <a:avLst>
              <a:gd name="adj" fmla="val 6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4608" y="3264408"/>
            <a:ext cx="53949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Machine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666744"/>
            <a:ext cx="5394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0">
                <a:solidFill>
                  <a:srgbClr val="102A33"/>
                </a:solidFill>
                <a:latin typeface="Noto Sans"/>
              </a:defRPr>
            </a:pPr>
            <a:r>
              <a:t>Projeto 4 · Trabalho final ·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6053328"/>
            <a:ext cx="7543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6D7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1" y="1463039"/>
            <a:ext cx="457200" cy="457200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581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481328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57984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Por que prever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298448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7600" y="1463039"/>
            <a:ext cx="457200" cy="457200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581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481328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Perguntas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157984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Número e risco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1298448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0528" y="1463039"/>
            <a:ext cx="457200" cy="457200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81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1481328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2157984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2.057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3" y="1298448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63455" y="1463039"/>
            <a:ext cx="457200" cy="457200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581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12095" y="1481328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Método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157984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Limpar e dividir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91840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1" y="3456432"/>
            <a:ext cx="457200" cy="457200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" y="357530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" y="3474720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Resultados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151376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Regressão e classe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3291840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657600" y="3456432"/>
            <a:ext cx="457200" cy="457200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357530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474720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151376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Demonstração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3291840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10528" y="3456432"/>
            <a:ext cx="457200" cy="457200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0528" y="357530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9168" y="3474720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0256" y="4151376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Relatório bônus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98863" y="3291840"/>
            <a:ext cx="2450592" cy="153619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63455" y="3456432"/>
            <a:ext cx="457200" cy="457200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63455" y="357530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12095" y="3474720"/>
            <a:ext cx="15087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Decisão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151376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Como apoiar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605272"/>
            <a:ext cx="696772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Uma previsão para apoiar a decisão da linha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4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4846320" cy="434340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17904"/>
            <a:ext cx="42062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6D77"/>
                </a:solidFill>
                <a:latin typeface="Noto Sans"/>
              </a:defRPr>
            </a:pPr>
            <a:r>
              <a:t>A linha para para trocar de produto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295144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212848"/>
            <a:ext cx="37856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retirar alimentadores do produto anterior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88920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706624"/>
            <a:ext cx="37856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instalar o novo conjunto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282696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00400"/>
            <a:ext cx="37856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carregar o programa da máquina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776472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694176"/>
            <a:ext cx="378561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conferir a primeira placa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4507992"/>
            <a:ext cx="4160520" cy="630936"/>
          </a:xfrm>
          <a:prstGeom prst="roundRect">
            <a:avLst>
              <a:gd name="adj" fmla="val 6000"/>
            </a:avLst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4681728"/>
            <a:ext cx="3886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Enquanto isso, a linha não produz.</a:t>
            </a:r>
          </a:p>
        </p:txBody>
      </p:sp>
      <p:pic>
        <p:nvPicPr>
          <p:cNvPr id="17" name="Picture 16" descr="logo-smt-em-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024128"/>
            <a:ext cx="2148840" cy="214884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101583" y="1261872"/>
            <a:ext cx="3410712" cy="1389888"/>
          </a:xfrm>
          <a:prstGeom prst="roundRect">
            <a:avLst>
              <a:gd name="adj" fmla="val 6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554480"/>
            <a:ext cx="10515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20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627632"/>
            <a:ext cx="17830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02A33"/>
                </a:solidFill>
                <a:latin typeface="Noto Sans"/>
              </a:defRPr>
            </a:pPr>
            <a:r>
              <a:t>trocas rápidas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2862072"/>
            <a:ext cx="3410712" cy="1389888"/>
          </a:xfrm>
          <a:prstGeom prst="roundRect">
            <a:avLst>
              <a:gd name="adj" fmla="val 6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0768" y="3154680"/>
            <a:ext cx="1417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600" b="1">
                <a:solidFill>
                  <a:srgbClr val="FF6448"/>
                </a:solidFill>
                <a:latin typeface="Noto Sans"/>
              </a:defRPr>
            </a:pPr>
            <a:r>
              <a:t>&gt; 60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227832"/>
            <a:ext cx="155448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02A33"/>
                </a:solidFill>
                <a:latin typeface="Noto Sans"/>
              </a:defRPr>
            </a:pPr>
            <a:r>
              <a:t>trocas críticas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4617720"/>
            <a:ext cx="5522976" cy="941832"/>
          </a:xfrm>
          <a:prstGeom prst="roundRect">
            <a:avLst>
              <a:gd name="adj" fmla="val 6000"/>
            </a:avLst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4855464"/>
            <a:ext cx="4901184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FFF8E8"/>
                </a:solidFill>
                <a:latin typeface="Noto Sans"/>
              </a:defRPr>
            </a:pPr>
            <a:r>
              <a:t>A ajuda adicional existe, mas não alcança todas as trocas.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097280"/>
            <a:ext cx="9464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102A33"/>
                </a:solidFill>
                <a:latin typeface="Noto Sans"/>
              </a:defRPr>
            </a:pPr>
            <a:r>
              <a:t>Antes de a linha parar, quais trocas precisam de mais atenção?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03120"/>
            <a:ext cx="5212080" cy="2999232"/>
          </a:xfrm>
          <a:prstGeom prst="roundRect">
            <a:avLst>
              <a:gd name="adj" fmla="val 6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" y="2468880"/>
            <a:ext cx="713232" cy="713232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33472"/>
            <a:ext cx="71323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2395728"/>
            <a:ext cx="3246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Regressão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3246120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0">
                <a:solidFill>
                  <a:srgbClr val="102A33"/>
                </a:solidFill>
                <a:latin typeface="Noto Sans"/>
              </a:defRPr>
            </a:pPr>
            <a:r>
              <a:t>Quantos minutos a troca deve levar?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334256"/>
            <a:ext cx="3840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006D77"/>
                </a:solidFill>
                <a:latin typeface="Noto Sans"/>
              </a:defRPr>
            </a:pPr>
            <a:r>
              <a:t>Métrica principal: MAE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5212080" cy="2999232"/>
          </a:xfrm>
          <a:prstGeom prst="roundRect">
            <a:avLst>
              <a:gd name="adj" fmla="val 6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38544" y="2468880"/>
            <a:ext cx="713232" cy="713232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8544" y="2633472"/>
            <a:ext cx="71323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395728"/>
            <a:ext cx="3246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Classificação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3246120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0">
                <a:solidFill>
                  <a:srgbClr val="102A33"/>
                </a:solidFill>
                <a:latin typeface="Noto Sans"/>
              </a:defRPr>
            </a:pPr>
            <a:r>
              <a:t>A troca deve passar de 42 minutos?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4224528"/>
            <a:ext cx="43434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006D77"/>
                </a:solidFill>
                <a:latin typeface="Noto Sans"/>
              </a:defRPr>
            </a:pPr>
            <a:r>
              <a:t>Foco: encontrar o risco sem alarmar demais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FFF8E8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078992"/>
            <a:ext cx="1993392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16151"/>
            <a:ext cx="1773936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FF6448"/>
                </a:solidFill>
                <a:latin typeface="Noto Sans"/>
              </a:defRPr>
            </a:pPr>
            <a:r>
              <a:t>2.057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37360"/>
            <a:ext cx="177393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1488" y="1078992"/>
            <a:ext cx="2157984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1216" y="1216151"/>
            <a:ext cx="1938528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18B889"/>
                </a:solidFill>
                <a:latin typeface="Noto Sans"/>
              </a:defRPr>
            </a:pPr>
            <a:r>
              <a:t>2.043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1216" y="1737360"/>
            <a:ext cx="193852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trocas após deduplicar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078992"/>
            <a:ext cx="1993392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216151"/>
            <a:ext cx="1773936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FF6448"/>
                </a:solidFill>
                <a:latin typeface="Noto Sans"/>
              </a:defRPr>
            </a:pPr>
            <a:r>
              <a:t>27,2%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1737360"/>
            <a:ext cx="177393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acima de 42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1078992"/>
            <a:ext cx="210312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51775" y="1216151"/>
            <a:ext cx="1883663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36A9E1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51775" y="1737360"/>
            <a:ext cx="1883663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entradas antes da troca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1078992"/>
            <a:ext cx="2057400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216151"/>
            <a:ext cx="1837943" cy="429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FFC43D"/>
                </a:solidFill>
                <a:latin typeface="Noto Sans"/>
              </a:defRPr>
            </a:pPr>
            <a:r>
              <a:t>jan a 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8" y="1737360"/>
            <a:ext cx="1837943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período de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" y="2496312"/>
            <a:ext cx="5349240" cy="309067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761488"/>
            <a:ext cx="4617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Entradas conhecidas antes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3429000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346704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alimentadores e kit preparado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3877056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3794760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experiência e componentes novos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4325112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242816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tamanho do lote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4773168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4690872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linha, mudança de família e turno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6208" y="2496312"/>
            <a:ext cx="5349240" cy="3090672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2761488"/>
            <a:ext cx="4526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Divisão temporal</a:t>
            </a:r>
          </a:p>
        </p:txBody>
      </p:sp>
      <p:sp>
        <p:nvSpPr>
          <p:cNvPr id="32" name="Oval 31"/>
          <p:cNvSpPr/>
          <p:nvPr/>
        </p:nvSpPr>
        <p:spPr>
          <a:xfrm>
            <a:off x="6565392" y="3401568"/>
            <a:ext cx="237744" cy="237744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1152" y="3364992"/>
            <a:ext cx="1234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Treino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3364992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1.236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4272" y="3364992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05/01 a 27/05</a:t>
            </a:r>
          </a:p>
        </p:txBody>
      </p:sp>
      <p:sp>
        <p:nvSpPr>
          <p:cNvPr id="36" name="Oval 35"/>
          <p:cNvSpPr/>
          <p:nvPr/>
        </p:nvSpPr>
        <p:spPr>
          <a:xfrm>
            <a:off x="6565392" y="4023360"/>
            <a:ext cx="237744" cy="23774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1152" y="3986784"/>
            <a:ext cx="1234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Validação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3986784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3986784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28/05 a 15/07</a:t>
            </a:r>
          </a:p>
        </p:txBody>
      </p:sp>
      <p:sp>
        <p:nvSpPr>
          <p:cNvPr id="40" name="Oval 39"/>
          <p:cNvSpPr/>
          <p:nvPr/>
        </p:nvSpPr>
        <p:spPr>
          <a:xfrm>
            <a:off x="6565392" y="4645152"/>
            <a:ext cx="237744" cy="237744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31152" y="4608576"/>
            <a:ext cx="1234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Teste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46085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4272" y="4608576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16/07 a 28/08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65392" y="5129784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FF6448"/>
                </a:solidFill>
                <a:latin typeface="Noto Sans"/>
              </a:defRPr>
            </a:pPr>
            <a:r>
              <a:t>Teste reservado até o final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Limpeza e relações principais</a:t>
            </a:r>
          </a:p>
        </p:txBody>
      </p:sp>
      <p:pic>
        <p:nvPicPr>
          <p:cNvPr id="5" name="Picture 4" descr="02_relacoes_princip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18250"/>
            <a:ext cx="6537960" cy="2655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078992"/>
            <a:ext cx="4407408" cy="1929384"/>
          </a:xfrm>
          <a:prstGeom prst="roundRect">
            <a:avLst>
              <a:gd name="adj" fmla="val 6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16368" y="1344168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foi tratado</a:t>
            </a:r>
          </a:p>
        </p:txBody>
      </p:sp>
      <p:sp>
        <p:nvSpPr>
          <p:cNvPr id="8" name="Oval 7"/>
          <p:cNvSpPr/>
          <p:nvPr/>
        </p:nvSpPr>
        <p:spPr>
          <a:xfrm>
            <a:off x="7498079" y="1874519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3" y="179222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14 duplicatas</a:t>
            </a:r>
          </a:p>
        </p:txBody>
      </p:sp>
      <p:sp>
        <p:nvSpPr>
          <p:cNvPr id="10" name="Oval 9"/>
          <p:cNvSpPr/>
          <p:nvPr/>
        </p:nvSpPr>
        <p:spPr>
          <a:xfrm>
            <a:off x="7498079" y="2148839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3" y="2066543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grafias e datas</a:t>
            </a:r>
          </a:p>
        </p:txBody>
      </p:sp>
      <p:sp>
        <p:nvSpPr>
          <p:cNvPr id="12" name="Oval 11"/>
          <p:cNvSpPr/>
          <p:nvPr/>
        </p:nvSpPr>
        <p:spPr>
          <a:xfrm>
            <a:off x="7498079" y="2423160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34086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vazios e código 9999</a:t>
            </a:r>
          </a:p>
        </p:txBody>
      </p:sp>
      <p:sp>
        <p:nvSpPr>
          <p:cNvPr id="14" name="Oval 13"/>
          <p:cNvSpPr/>
          <p:nvPr/>
        </p:nvSpPr>
        <p:spPr>
          <a:xfrm>
            <a:off x="7498079" y="2697479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61518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medidas impossíveis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236976"/>
            <a:ext cx="4407408" cy="2221992"/>
          </a:xfrm>
          <a:prstGeom prst="roundRect">
            <a:avLst>
              <a:gd name="adj" fmla="val 6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3511296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os gráficos sugerem</a:t>
            </a:r>
          </a:p>
        </p:txBody>
      </p:sp>
      <p:sp>
        <p:nvSpPr>
          <p:cNvPr id="18" name="Oval 17"/>
          <p:cNvSpPr/>
          <p:nvPr/>
        </p:nvSpPr>
        <p:spPr>
          <a:xfrm>
            <a:off x="7498079" y="4087368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4005072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kit preparado encurta a troca</a:t>
            </a:r>
          </a:p>
        </p:txBody>
      </p:sp>
      <p:sp>
        <p:nvSpPr>
          <p:cNvPr id="20" name="Oval 19"/>
          <p:cNvSpPr/>
          <p:nvPr/>
        </p:nvSpPr>
        <p:spPr>
          <a:xfrm>
            <a:off x="7498079" y="4443983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35823" y="4361688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mais alimentadores alongam a troca</a:t>
            </a:r>
          </a:p>
        </p:txBody>
      </p:sp>
      <p:sp>
        <p:nvSpPr>
          <p:cNvPr id="22" name="Oval 21"/>
          <p:cNvSpPr/>
          <p:nvPr/>
        </p:nvSpPr>
        <p:spPr>
          <a:xfrm>
            <a:off x="7498079" y="4800600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5823" y="4718304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associação não prova causa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650992"/>
            <a:ext cx="9528048" cy="502920"/>
          </a:xfrm>
          <a:prstGeom prst="roundRect">
            <a:avLst>
              <a:gd name="adj" fmla="val 6000"/>
            </a:avLst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2768" y="5769864"/>
            <a:ext cx="90342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coluna posterior ao evento ficou fora dos modelos.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4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Resultado 1 · Quantos minutos?</a:t>
            </a:r>
          </a:p>
        </p:txBody>
      </p:sp>
      <p:pic>
        <p:nvPicPr>
          <p:cNvPr id="5" name="Picture 4" descr="04_comparacao_regres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707025"/>
            <a:ext cx="6611112" cy="33616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05472" y="1216152"/>
            <a:ext cx="4453128" cy="1133856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34656" y="1453896"/>
            <a:ext cx="162763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2,66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62288" y="1554480"/>
            <a:ext cx="2103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02A33"/>
                </a:solidFill>
                <a:latin typeface="Noto Sans"/>
              </a:defRPr>
            </a:pPr>
            <a:r>
              <a:t>erro médio da árvore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5472" y="2587752"/>
            <a:ext cx="4453128" cy="1133856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34656" y="2825496"/>
            <a:ext cx="162763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600" b="1">
                <a:solidFill>
                  <a:srgbClr val="FF6448"/>
                </a:solidFill>
                <a:latin typeface="Noto Sans"/>
              </a:defRPr>
            </a:pPr>
            <a:r>
              <a:t>67,4%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2288" y="2926080"/>
            <a:ext cx="21031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02A33"/>
                </a:solidFill>
                <a:latin typeface="Noto Sans"/>
              </a:defRPr>
            </a:pPr>
            <a:r>
              <a:t>menos erro que a referência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5472" y="3959352"/>
            <a:ext cx="4453128" cy="1133856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4656" y="4197096"/>
            <a:ext cx="169164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400" b="1">
                <a:solidFill>
                  <a:srgbClr val="36A9E1"/>
                </a:solidFill>
                <a:latin typeface="Noto Sans"/>
              </a:defRPr>
            </a:pPr>
            <a:r>
              <a:t>R² 0,884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3728" y="4297680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102A33"/>
                </a:solidFill>
                <a:latin typeface="Noto Sans"/>
              </a:defRPr>
            </a:pPr>
            <a:r>
              <a:t>no período de teste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07592" y="5641848"/>
            <a:ext cx="9537192" cy="502920"/>
          </a:xfrm>
          <a:prstGeom prst="roundRect">
            <a:avLst>
              <a:gd name="adj" fmla="val 6000"/>
            </a:avLst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5760720"/>
            <a:ext cx="90708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árvore de profundidade 7 foi escolhida na validação.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Resultado 2 · Vai passar de 42 minutos?</a:t>
            </a:r>
          </a:p>
        </p:txBody>
      </p:sp>
      <p:pic>
        <p:nvPicPr>
          <p:cNvPr id="5" name="Picture 4" descr="06_matriz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93169"/>
            <a:ext cx="5806440" cy="43996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47104" y="1179576"/>
            <a:ext cx="5020056" cy="996696"/>
          </a:xfrm>
          <a:prstGeom prst="roundRect">
            <a:avLst>
              <a:gd name="adj" fmla="val 6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408176"/>
            <a:ext cx="758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472184"/>
            <a:ext cx="34381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02A33"/>
                </a:solidFill>
                <a:latin typeface="Noto Sans"/>
              </a:defRPr>
            </a:pPr>
            <a:r>
              <a:t>trocas demoradas encontradas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7104" y="2377440"/>
            <a:ext cx="5020056" cy="996696"/>
          </a:xfrm>
          <a:prstGeom prst="roundRect">
            <a:avLst>
              <a:gd name="adj" fmla="val 6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2606040"/>
            <a:ext cx="758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70048"/>
            <a:ext cx="34381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02A33"/>
                </a:solidFill>
                <a:latin typeface="Noto Sans"/>
              </a:defRPr>
            </a:pPr>
            <a:r>
              <a:t>trocas demoradas perdidas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7104" y="3575304"/>
            <a:ext cx="5020056" cy="996696"/>
          </a:xfrm>
          <a:prstGeom prst="roundRect">
            <a:avLst>
              <a:gd name="adj" fmla="val 6000"/>
            </a:avLst>
          </a:prstGeom>
          <a:solidFill>
            <a:srgbClr val="C7E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3803904"/>
            <a:ext cx="7589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36A9E1"/>
                </a:solidFill>
                <a:latin typeface="Noto Sans"/>
              </a:defRPr>
            </a:pPr>
            <a: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3867912"/>
            <a:ext cx="3438144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0">
                <a:solidFill>
                  <a:srgbClr val="102A33"/>
                </a:solidFill>
                <a:latin typeface="Noto Sans"/>
              </a:defRPr>
            </a:pPr>
            <a:r>
              <a:t>falsos alarmes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47104" y="4773168"/>
            <a:ext cx="5020056" cy="960120"/>
          </a:xfrm>
          <a:prstGeom prst="roundRect">
            <a:avLst>
              <a:gd name="adj" fmla="val 6000"/>
            </a:avLst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5074920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20" b="1">
                <a:solidFill>
                  <a:srgbClr val="FFF8E8"/>
                </a:solidFill>
                <a:latin typeface="Noto Sans"/>
              </a:defRPr>
            </a:pPr>
            <a:r>
              <a:t>Recall 87,3%  ·  Precisão 74,2%  ·  F1 80,2%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FFF8E8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005840"/>
            <a:ext cx="7360920" cy="51846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222248"/>
            <a:ext cx="7141464" cy="476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188720"/>
            <a:ext cx="3447288" cy="123444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80" y="1444752"/>
            <a:ext cx="502920" cy="502920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545336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102A33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0848" y="1399032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Limpeza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848" y="1755648"/>
            <a:ext cx="21945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cada problema é observado e conferido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715768"/>
            <a:ext cx="3447288" cy="123444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971800"/>
            <a:ext cx="502920" cy="502920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072384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102A33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2926079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282696"/>
            <a:ext cx="21945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referência, regressão linear e árvores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4242816"/>
            <a:ext cx="3447288" cy="123444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80" y="4498848"/>
            <a:ext cx="502920" cy="502920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599431"/>
            <a:ext cx="5029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102A33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4453128"/>
            <a:ext cx="2148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4809744"/>
            <a:ext cx="219456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células executadas e resultados reproduzíveis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52144"/>
            <a:ext cx="321868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4248" y="1389888"/>
            <a:ext cx="530352" cy="530352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48256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514600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entrega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8808" y="1152144"/>
            <a:ext cx="321868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22976" y="1389888"/>
            <a:ext cx="530352" cy="530352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48256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Apresentação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514600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PPTX 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152144"/>
            <a:ext cx="3218688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61704" y="1389888"/>
            <a:ext cx="530352" cy="530352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7" y="2048256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Relatório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514600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material complementar</a:t>
            </a:r>
          </a:p>
        </p:txBody>
      </p:sp>
      <p:pic>
        <p:nvPicPr>
          <p:cNvPr id="17" name="Picture 16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145536"/>
            <a:ext cx="2633472" cy="1755648"/>
          </a:xfrm>
          <a:prstGeom prst="rect">
            <a:avLst/>
          </a:prstGeom>
        </p:spPr>
      </p:pic>
      <p:pic>
        <p:nvPicPr>
          <p:cNvPr id="18" name="Picture 17" descr="logo-smt-em-tem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2971800"/>
            <a:ext cx="1901952" cy="1901952"/>
          </a:xfrm>
          <a:prstGeom prst="rect">
            <a:avLst/>
          </a:prstGeom>
        </p:spPr>
      </p:pic>
      <p:pic>
        <p:nvPicPr>
          <p:cNvPr id="19" name="Picture 18" descr="preview-rel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908706"/>
            <a:ext cx="1408176" cy="1991563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558784" y="5138928"/>
            <a:ext cx="1554480" cy="402336"/>
          </a:xfrm>
          <a:prstGeom prst="roundRect">
            <a:avLst>
              <a:gd name="adj" fmla="val 6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5230368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BÔNUS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6144768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006D77"/>
                </a:solidFill>
                <a:latin typeface="Noto Sans"/>
              </a:defRPr>
            </a:pPr>
            <a:r>
              <a:t>Todos os arquivos estão organizados no repositório.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406908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"/>
            <a:ext cx="10168128" cy="5852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600" b="1">
                <a:solidFill>
                  <a:srgbClr val="006D77"/>
                </a:solidFill>
                <a:latin typeface="Noto Sans"/>
              </a:defRPr>
            </a:pPr>
            <a:r>
              <a:t>Decisão apoiada e aprendizados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078992"/>
            <a:ext cx="6528816" cy="4498848"/>
          </a:xfrm>
          <a:prstGeom prst="roundRect">
            <a:avLst>
              <a:gd name="adj" fmla="val 6000"/>
            </a:avLst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17320"/>
            <a:ext cx="192024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Como usar</a:t>
            </a:r>
          </a:p>
        </p:txBody>
      </p:sp>
      <p:sp>
        <p:nvSpPr>
          <p:cNvPr id="7" name="Oval 6"/>
          <p:cNvSpPr/>
          <p:nvPr/>
        </p:nvSpPr>
        <p:spPr>
          <a:xfrm>
            <a:off x="1078992" y="2011680"/>
            <a:ext cx="438912" cy="438912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103120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>
                <a:solidFill>
                  <a:srgbClr val="102A33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048256"/>
            <a:ext cx="486460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Calcular o risco antes da troca</a:t>
            </a:r>
          </a:p>
        </p:txBody>
      </p:sp>
      <p:sp>
        <p:nvSpPr>
          <p:cNvPr id="10" name="Oval 9"/>
          <p:cNvSpPr/>
          <p:nvPr/>
        </p:nvSpPr>
        <p:spPr>
          <a:xfrm>
            <a:off x="1078992" y="2743200"/>
            <a:ext cx="438912" cy="43891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834640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>
                <a:solidFill>
                  <a:srgbClr val="102A33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2779776"/>
            <a:ext cx="486460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Ordenar as trocas mais arriscadas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474720"/>
            <a:ext cx="438912" cy="438912"/>
          </a:xfrm>
          <a:prstGeom prst="ellipse">
            <a:avLst/>
          </a:prstGeom>
          <a:solidFill>
            <a:srgbClr val="36A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566160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>
                <a:solidFill>
                  <a:srgbClr val="102A33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3511296"/>
            <a:ext cx="486460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Direcionar apoio com decisão humana</a:t>
            </a:r>
          </a:p>
        </p:txBody>
      </p:sp>
      <p:sp>
        <p:nvSpPr>
          <p:cNvPr id="16" name="Oval 15"/>
          <p:cNvSpPr/>
          <p:nvPr/>
        </p:nvSpPr>
        <p:spPr>
          <a:xfrm>
            <a:off x="1078992" y="4206240"/>
            <a:ext cx="438912" cy="438912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4297680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00" b="1">
                <a:solidFill>
                  <a:srgbClr val="102A33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4242816"/>
            <a:ext cx="486460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Monitorar perdas e falsos alarmes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078992"/>
            <a:ext cx="4078224" cy="1965960"/>
          </a:xfrm>
          <a:prstGeom prst="roundRect">
            <a:avLst>
              <a:gd name="adj" fmla="val 6000"/>
            </a:avLst>
          </a:prstGeom>
          <a:solidFill>
            <a:srgbClr val="CDED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135331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Pontos de aprendizado</a:t>
            </a:r>
          </a:p>
        </p:txBody>
      </p:sp>
      <p:sp>
        <p:nvSpPr>
          <p:cNvPr id="21" name="Oval 20"/>
          <p:cNvSpPr/>
          <p:nvPr/>
        </p:nvSpPr>
        <p:spPr>
          <a:xfrm>
            <a:off x="7754112" y="1938527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1856" y="1856231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avaliar no tempo</a:t>
            </a:r>
          </a:p>
        </p:txBody>
      </p:sp>
      <p:sp>
        <p:nvSpPr>
          <p:cNvPr id="23" name="Oval 22"/>
          <p:cNvSpPr/>
          <p:nvPr/>
        </p:nvSpPr>
        <p:spPr>
          <a:xfrm>
            <a:off x="7754112" y="2249423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1856" y="2167127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comparar com referência</a:t>
            </a:r>
          </a:p>
        </p:txBody>
      </p:sp>
      <p:sp>
        <p:nvSpPr>
          <p:cNvPr id="25" name="Oval 24"/>
          <p:cNvSpPr/>
          <p:nvPr/>
        </p:nvSpPr>
        <p:spPr>
          <a:xfrm>
            <a:off x="7754112" y="2560320"/>
            <a:ext cx="109728" cy="109728"/>
          </a:xfrm>
          <a:prstGeom prst="ellipse">
            <a:avLst/>
          </a:prstGeom>
          <a:solidFill>
            <a:srgbClr val="18B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478024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evitar vazamento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273552"/>
            <a:ext cx="4078224" cy="2304288"/>
          </a:xfrm>
          <a:prstGeom prst="roundRect">
            <a:avLst>
              <a:gd name="adj" fmla="val 6000"/>
            </a:avLst>
          </a:prstGeom>
          <a:solidFill>
            <a:srgbClr val="F8D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4112" y="354787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Limites</a:t>
            </a:r>
          </a:p>
        </p:txBody>
      </p:sp>
      <p:sp>
        <p:nvSpPr>
          <p:cNvPr id="29" name="Oval 28"/>
          <p:cNvSpPr/>
          <p:nvPr/>
        </p:nvSpPr>
        <p:spPr>
          <a:xfrm>
            <a:off x="7754112" y="4133087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050791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dados sintéticos</a:t>
            </a:r>
          </a:p>
        </p:txBody>
      </p:sp>
      <p:sp>
        <p:nvSpPr>
          <p:cNvPr id="31" name="Oval 30"/>
          <p:cNvSpPr/>
          <p:nvPr/>
        </p:nvSpPr>
        <p:spPr>
          <a:xfrm>
            <a:off x="7754112" y="4480559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4398264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sem prova causal</a:t>
            </a:r>
          </a:p>
        </p:txBody>
      </p:sp>
      <p:sp>
        <p:nvSpPr>
          <p:cNvPr id="33" name="Oval 32"/>
          <p:cNvSpPr/>
          <p:nvPr/>
        </p:nvSpPr>
        <p:spPr>
          <a:xfrm>
            <a:off x="7754112" y="4828031"/>
            <a:ext cx="109728" cy="109728"/>
          </a:xfrm>
          <a:prstGeom prst="ellipse">
            <a:avLst/>
          </a:prstGeom>
          <a:solidFill>
            <a:srgbClr val="FF6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1856" y="4745736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validar antes do uso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9504" y="5779008"/>
            <a:ext cx="6446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Prever cedo para apoiar melhor.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
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mt-em-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3584448"/>
            <a:ext cx="2267712" cy="2267712"/>
          </a:xfrm>
          <a:prstGeom prst="rect">
            <a:avLst/>
          </a:prstGeom>
        </p:spPr>
      </p:pic>
      <p:pic>
        <p:nvPicPr>
          <p:cNvPr id="3" name="Picture 2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227599"/>
            <a:ext cx="1051560" cy="532352"/>
          </a:xfrm>
          <a:prstGeom prst="rect">
            <a:avLst/>
          </a:prstGeom>
        </p:spPr>
      </p:pic>
      <p:pic>
        <p:nvPicPr>
          <p:cNvPr id="4" name="Picture 3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768" y="185217"/>
            <a:ext cx="841248" cy="5988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960120"/>
            <a:ext cx="953719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400" b="1">
                <a:solidFill>
                  <a:srgbClr val="006D77"/>
                </a:solidFill>
                <a:latin typeface="Noto Sans"/>
              </a:defRPr>
            </a:pPr>
            <a:r>
              <a:t>SMT em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700784"/>
            <a:ext cx="8439912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0">
                <a:solidFill>
                  <a:srgbClr val="102A33"/>
                </a:solidFill>
                <a:latin typeface="Noto Sans"/>
              </a:defRPr>
            </a:pPr>
            <a:r>
              <a:t>Quais trocas de produto precisam de apoio antes de começar?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2542032"/>
            <a:ext cx="2862072" cy="50292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2968" y="2834640"/>
            <a:ext cx="5852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236976"/>
            <a:ext cx="6336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0">
                <a:solidFill>
                  <a:srgbClr val="102A33"/>
                </a:solidFill>
                <a:latin typeface="Noto Sans"/>
              </a:defRPr>
            </a:pPr>
            <a:r>
              <a:t>Projeto 4 · Trabalho final · Outubro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6053328"/>
            <a:ext cx="7543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6D7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" y="1463039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Por que prever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12464" y="1463039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Perguntas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Número e risco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65392" y="1463039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2.057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3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19" y="1463039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Método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Limpar e dividir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9536" y="3456432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Resultados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Regressão e classe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12464" y="3456432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67328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Demonstração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3456432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0256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0256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Relatório bônus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98863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18319" y="3456432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Decisão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Como apoiar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605272"/>
            <a:ext cx="696772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Uma previsão para apoiar a decisão da linha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188720"/>
            <a:ext cx="4736592" cy="4407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4078224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300" b="1">
                <a:solidFill>
                  <a:srgbClr val="006D77"/>
                </a:solidFill>
                <a:latin typeface="Noto Sans"/>
              </a:defRPr>
            </a:pPr>
            <a:r>
              <a:t>A linha para para trocar de produto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228600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9304" y="2212848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retirar alimentadores do produto anterior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277977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706624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instalar o novo conjunto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3273552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9304" y="3200400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carregar o programa da máquina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8992" y="376732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3694176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conferir a primeira placa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544568"/>
            <a:ext cx="4078224" cy="630936"/>
          </a:xfrm>
          <a:prstGeom prst="roundRect">
            <a:avLst>
              <a:gd name="adj" fmla="val 3500"/>
            </a:avLst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718304"/>
            <a:ext cx="380390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Enquanto isso, a linha não produz.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005840"/>
            <a:ext cx="3200400" cy="320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92240" y="1389888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A duração varia muito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rápidas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14816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&gt; 60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críticas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4626864"/>
            <a:ext cx="5303520" cy="8412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4828032"/>
            <a:ext cx="47548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FFF8E8"/>
                </a:solidFill>
                <a:latin typeface="Noto Sans"/>
              </a:defRPr>
            </a:pPr>
            <a:r>
              <a:t>A ajuda adicional existe, mas não alcança todas as trocas.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097280"/>
            <a:ext cx="9464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102A33"/>
                </a:solidFill>
                <a:latin typeface="Noto Sans"/>
              </a:defRPr>
            </a:pPr>
            <a:r>
              <a:t>Antes de a linha parar, quais trocas precisam de mais atenção?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2432304"/>
            <a:ext cx="4480560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Regressão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Quantos minutos a troca deve levar?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443984"/>
            <a:ext cx="3840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006D77"/>
                </a:solidFill>
                <a:latin typeface="Noto Sans"/>
              </a:defRPr>
            </a:pPr>
            <a:r>
              <a:t>Métrica principal: MAE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38544" y="2432304"/>
            <a:ext cx="4480560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8544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Classificação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A troca deve passar de 42 minutos?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4379976"/>
            <a:ext cx="4343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Foco: encontrar o risco sem alarmar demais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2.057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1078992"/>
            <a:ext cx="2157984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44368" y="1197864"/>
            <a:ext cx="1792224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6" y="1307592"/>
            <a:ext cx="1938528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18B889"/>
                </a:solidFill>
                <a:latin typeface="Noto Sans"/>
              </a:defRPr>
            </a:pPr>
            <a:r>
              <a:t>2.043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1764792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trocas após deduplicar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694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27,2%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acima de 42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2048" y="1078992"/>
            <a:ext cx="210312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4927" y="1197864"/>
            <a:ext cx="173736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07592"/>
            <a:ext cx="188366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36A9E1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5" y="1764792"/>
            <a:ext cx="188366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entradas antes da troca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078992"/>
            <a:ext cx="205740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197864"/>
            <a:ext cx="169164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1307592"/>
            <a:ext cx="183794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C43D"/>
                </a:solidFill>
                <a:latin typeface="Noto Sans"/>
              </a:defRPr>
            </a:pPr>
            <a:r>
              <a:t>jan a ago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1764792"/>
            <a:ext cx="183794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período de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761488"/>
            <a:ext cx="4617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Entradas conhecidas 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41985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3346704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alimentadores e kit preparado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3867912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3794760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experiência e componentes novos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315968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4242816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tamanho do lote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76402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4690872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linha, mudança de família e turno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2761488"/>
            <a:ext cx="4526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Divisão temporal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1968" y="3401568"/>
            <a:ext cx="64008" cy="237744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85432" y="3364992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Treino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3364992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1.236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64992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05/01 a 27/05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1968" y="4023360"/>
            <a:ext cx="64008" cy="237744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5432" y="3986784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Validação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57031" y="3986784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3986784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28/05 a 15/07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01968" y="4645152"/>
            <a:ext cx="64008" cy="237744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85432" y="4608576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Teste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57031" y="46085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4608576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16/07 a 28/08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129784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FF6448"/>
                </a:solidFill>
                <a:latin typeface="Noto Sans"/>
              </a:defRPr>
            </a:pPr>
            <a:r>
              <a:t>Teste reservado até o final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Limpeza e relações principais</a:t>
            </a:r>
          </a:p>
        </p:txBody>
      </p:sp>
      <p:pic>
        <p:nvPicPr>
          <p:cNvPr id="5" name="Picture 4" descr="02_relacoes_princip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18250"/>
            <a:ext cx="6537960" cy="2655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078992"/>
            <a:ext cx="4407408" cy="1929384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16368" y="1344168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foi tratado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5511" y="18653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3" y="179222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14 duplicatas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25511" y="213969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3" y="2066543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grafias e datas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1" y="241401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34086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vazios e código 9999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5511" y="268833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61518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medidas impossíveis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236976"/>
            <a:ext cx="4407408" cy="222199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3511296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os gráficos sugerem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1" y="407822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4005072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kit preparado encurta a troca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25511" y="443484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35823" y="4361688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mais alimentadores alongam a troca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25511" y="479145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5823" y="4718304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associação não prova causa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650992"/>
            <a:ext cx="9528048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2768" y="5769864"/>
            <a:ext cx="90342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coluna posterior ao evento ficou fora dos modelos.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1 · Quantos minutos?</a:t>
            </a:r>
          </a:p>
        </p:txBody>
      </p:sp>
      <p:pic>
        <p:nvPicPr>
          <p:cNvPr id="5" name="Picture 4" descr="04_comparacao_regres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707025"/>
            <a:ext cx="6611112" cy="33616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05472" y="12161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61504" y="1362456"/>
            <a:ext cx="3941063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4904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2,66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9659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erro médio da árvore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25877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61504" y="2734056"/>
            <a:ext cx="3941063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1504" y="28620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67,4%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1504" y="33375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menos erro que a referência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39593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61504" y="4105656"/>
            <a:ext cx="3941063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42336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36A9E1"/>
                </a:solidFill>
                <a:latin typeface="Noto Sans"/>
              </a:defRPr>
            </a:pPr>
            <a:r>
              <a:t>R² 0,884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47091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no período de teste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07592" y="5641848"/>
            <a:ext cx="9537192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6192" y="5760720"/>
            <a:ext cx="90708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árvore de profundidade 7 foi escolhida na validação.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2 · Vai passar de 42 minutos?</a:t>
            </a:r>
          </a:p>
        </p:txBody>
      </p:sp>
      <p:pic>
        <p:nvPicPr>
          <p:cNvPr id="5" name="Picture 4" descr="06_matriz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93169"/>
            <a:ext cx="5806440" cy="43996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47104" y="1179576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21424" y="1307592"/>
            <a:ext cx="4471416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1424" y="1408176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1424" y="1801368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encontradas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47104" y="2377440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21424" y="2505456"/>
            <a:ext cx="4471416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1424" y="2606040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FF6448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1424" y="2999232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perdidas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7104" y="3575304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21424" y="3703320"/>
            <a:ext cx="4471416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1424" y="3803904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36A9E1"/>
                </a:solidFill>
                <a:latin typeface="Noto Sans"/>
              </a:defRPr>
            </a:pPr>
            <a: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4197096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falsos alarmes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47104" y="4773168"/>
            <a:ext cx="5020056" cy="9601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5074920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20" b="1">
                <a:solidFill>
                  <a:srgbClr val="FFF8E8"/>
                </a:solidFill>
                <a:latin typeface="Noto Sans"/>
              </a:defRPr>
            </a:pPr>
            <a:r>
              <a:t>Recall 87,3%  ·  Precisão 74,2%  ·  F1 80,2%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005840"/>
            <a:ext cx="7360920" cy="5184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222248"/>
            <a:ext cx="7141464" cy="476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188720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30768" y="1344168"/>
            <a:ext cx="2935224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0768" y="1463040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691640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Limpeza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993392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cada problema é observado e conferido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715768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30768" y="2871215"/>
            <a:ext cx="2935224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2990087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218687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520439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referência, regressão linear e árvores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4242816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398264"/>
            <a:ext cx="2935224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4517136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4745736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5047488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células executadas e resultados reproduzíveis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0976" y="1417320"/>
            <a:ext cx="2596896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entrega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8808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9704" y="1417320"/>
            <a:ext cx="2596896" cy="5029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Apresentação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PPTX 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417320"/>
            <a:ext cx="2596896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7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Relatório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material complementar</a:t>
            </a:r>
          </a:p>
        </p:txBody>
      </p:sp>
      <p:pic>
        <p:nvPicPr>
          <p:cNvPr id="17" name="Picture 16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962656"/>
            <a:ext cx="2633472" cy="1755648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670048"/>
            <a:ext cx="2212848" cy="2212848"/>
          </a:xfrm>
          <a:prstGeom prst="rect">
            <a:avLst/>
          </a:prstGeom>
        </p:spPr>
      </p:pic>
      <p:pic>
        <p:nvPicPr>
          <p:cNvPr id="19" name="Picture 18" descr="preview-rel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643530"/>
            <a:ext cx="1408176" cy="1991563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558784" y="5010912"/>
            <a:ext cx="1554480" cy="402336"/>
          </a:xfrm>
          <a:prstGeom prst="roundRect">
            <a:avLst>
              <a:gd name="adj" fmla="val 3500"/>
            </a:avLst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5102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BÔNUS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6144768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006D77"/>
                </a:solidFill>
                <a:latin typeface="Noto Sans"/>
              </a:defRPr>
            </a:pPr>
            <a:r>
              <a:t>Todos os arquivos estão organizados no repositório.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Decisão apoiada e aprendizados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078992"/>
            <a:ext cx="6528816" cy="44988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17320"/>
            <a:ext cx="57972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Como usar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64008" cy="310896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08483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04825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Calcular o risco antes da troca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788920"/>
            <a:ext cx="64008" cy="310896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281635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77977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Ordenar as trocas mais arriscadas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520440"/>
            <a:ext cx="64008" cy="310896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351129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Direcionar apoio com decisão humana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251960"/>
            <a:ext cx="64008" cy="310896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5024" y="427939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1952" y="424281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Monitorar perdas e falsos alarmes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078992"/>
            <a:ext cx="4078224" cy="1965960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135331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Pontos de aprendizado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81544" y="192938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1856" y="1856231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avaliar no tempo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81544" y="2240279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1856" y="2167127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comparar com referência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1544" y="25511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478024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evitar vazamento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273552"/>
            <a:ext cx="4078224" cy="2304288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4112" y="354787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Limites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81544" y="412394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050791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dados sintéticos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81544" y="447141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4398264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sem prova causal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81544" y="481888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1856" y="4745736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validar antes do uso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9504" y="5779008"/>
            <a:ext cx="6446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Prever cedo para apoiar melhor.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Respostas às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097280"/>
            <a:ext cx="5349240" cy="4434840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389888"/>
            <a:ext cx="4654296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554480"/>
            <a:ext cx="465429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36A9E1"/>
                </a:solidFill>
                <a:latin typeface="Noto Sans"/>
              </a:defRPr>
            </a:pPr>
            <a:r>
              <a:t>PERGUNTA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47088"/>
            <a:ext cx="46177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6D77"/>
                </a:solidFill>
                <a:latin typeface="Noto Sans"/>
              </a:defRPr>
            </a:pPr>
            <a:r>
              <a:t>Quantos minutos a troca deve levar?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78608"/>
            <a:ext cx="4581144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450" b="0">
                <a:solidFill>
                  <a:srgbClr val="102A33"/>
                </a:solidFill>
                <a:latin typeface="Noto Sans"/>
              </a:defRPr>
            </a:pPr>
            <a:r>
              <a:t>A duração é estimada para cada troca com os dados disponíveis antes da parada.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401568"/>
            <a:ext cx="45811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000" b="1">
                <a:solidFill>
                  <a:srgbClr val="006D77"/>
                </a:solidFill>
                <a:latin typeface="Noto Sans"/>
              </a:defRPr>
            </a:pPr>
            <a:r>
              <a:t>2,66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950208"/>
            <a:ext cx="458114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erro médio no período de teste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462272"/>
            <a:ext cx="2121408" cy="7132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08576"/>
            <a:ext cx="1901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FF6448"/>
                </a:solidFill>
                <a:latin typeface="Noto Sans"/>
              </a:defRPr>
            </a:pPr>
            <a:r>
              <a:t>67,4%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892040"/>
            <a:ext cx="19019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0">
                <a:solidFill>
                  <a:srgbClr val="102A33"/>
                </a:solidFill>
                <a:latin typeface="Noto Sans"/>
              </a:defRPr>
            </a:pPr>
            <a:r>
              <a:t>menos erro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462272"/>
            <a:ext cx="2121408" cy="7132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4608576"/>
            <a:ext cx="1901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36A9E1"/>
                </a:solidFill>
                <a:latin typeface="Noto Sans"/>
              </a:defRPr>
            </a:pPr>
            <a:r>
              <a:t>R² 0,884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4892040"/>
            <a:ext cx="19019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0">
                <a:solidFill>
                  <a:srgbClr val="102A33"/>
                </a:solidFill>
                <a:latin typeface="Noto Sans"/>
              </a:defRPr>
            </a:pPr>
            <a:r>
              <a:t>variação explicada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097280"/>
            <a:ext cx="5349240" cy="4434840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7104" y="1389888"/>
            <a:ext cx="4654296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1554480"/>
            <a:ext cx="465429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FF6448"/>
                </a:solidFill>
                <a:latin typeface="Noto Sans"/>
              </a:defRPr>
            </a:pPr>
            <a:r>
              <a:t>PERGUNTA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1847088"/>
            <a:ext cx="46177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6D77"/>
                </a:solidFill>
                <a:latin typeface="Noto Sans"/>
              </a:defRPr>
            </a:pPr>
            <a:r>
              <a:t>A troca deve passar de 42 minutos?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578608"/>
            <a:ext cx="4581144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450" b="0">
                <a:solidFill>
                  <a:srgbClr val="102A33"/>
                </a:solidFill>
                <a:latin typeface="Noto Sans"/>
              </a:defRPr>
            </a:pPr>
            <a:r>
              <a:t>O modelo sinaliza o risco antes da parada, com recall de 87,3% e precisão de 74,2%.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401568"/>
            <a:ext cx="458114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000" b="1">
                <a:solidFill>
                  <a:srgbClr val="006D77"/>
                </a:solidFill>
                <a:latin typeface="Noto Sans"/>
              </a:defRPr>
            </a:pPr>
            <a:r>
              <a:t>89 de 102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950208"/>
            <a:ext cx="458114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demoradas encontradas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65392" y="4462272"/>
            <a:ext cx="2121408" cy="7132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608576"/>
            <a:ext cx="1901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FF6448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892040"/>
            <a:ext cx="19019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0">
                <a:solidFill>
                  <a:srgbClr val="102A33"/>
                </a:solidFill>
                <a:latin typeface="Noto Sans"/>
              </a:defRPr>
            </a:pPr>
            <a:r>
              <a:t>casos perdidos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4462272"/>
            <a:ext cx="2121408" cy="71323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4608576"/>
            <a:ext cx="1901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36A9E1"/>
                </a:solidFill>
                <a:latin typeface="Noto Sans"/>
              </a:defRPr>
            </a:pPr>
            <a: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4892040"/>
            <a:ext cx="19019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0">
                <a:solidFill>
                  <a:srgbClr val="102A33"/>
                </a:solidFill>
                <a:latin typeface="Noto Sans"/>
              </a:defRPr>
            </a:pPr>
            <a:r>
              <a:t>falsos alarmes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742432"/>
            <a:ext cx="9994392" cy="54864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53312" y="5879592"/>
            <a:ext cx="948232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FFF8E8"/>
                </a:solidFill>
                <a:latin typeface="Noto Sans"/>
              </a:defRPr>
            </a:pPr>
            <a:r>
              <a:t>Os modelos permitem priorizar apoio antes da troca, com decisão humana e acompanhamento contínuo.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227599"/>
            <a:ext cx="1051560" cy="532352"/>
          </a:xfrm>
          <a:prstGeom prst="rect">
            <a:avLst/>
          </a:prstGeom>
        </p:spPr>
      </p:pic>
      <p:pic>
        <p:nvPicPr>
          <p:cNvPr id="3" name="Picture 2" descr="logo-siala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185217"/>
            <a:ext cx="841248" cy="5988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17320" y="932688"/>
            <a:ext cx="935431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200" b="1">
                <a:solidFill>
                  <a:srgbClr val="FFF8E8"/>
                </a:solidFill>
                <a:latin typeface="Noto Sans"/>
              </a:defRPr>
            </a:pPr>
            <a:r>
              <a:t>Agradecemos a atenção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782312" y="1755648"/>
            <a:ext cx="2624328" cy="50292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smt-em-tem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6" y="2011680"/>
            <a:ext cx="24688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4645152"/>
            <a:ext cx="551383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FFF8E8"/>
                </a:solidFill>
                <a:latin typeface="Noto Sans"/>
              </a:defRPr>
            </a:pPr>
            <a:r>
              <a:t>Perguntas?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62072" y="5193792"/>
            <a:ext cx="646480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0">
                <a:solidFill>
                  <a:srgbClr val="CDEDE3"/>
                </a:solidFill>
                <a:latin typeface="Noto Sans"/>
              </a:defRPr>
            </a:pPr>
            <a:r>
              <a:t>SMT em Tempo · Projeto 4 ·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5788152"/>
            <a:ext cx="8129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>
                <a:solidFill>
                  <a:srgbClr val="FFF8E8"/>
                </a:solidFill>
                <a:latin typeface="Noto Sans"/>
              </a:defRPr>
            </a:pPr>
            <a:r>
              <a:t>Juliana Ballin Lima · Fernanda de Oliveira da Costa · Pedro Henrique Oliveira Dias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
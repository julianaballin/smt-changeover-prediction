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pic>
        <p:nvPicPr>
          <p:cNvPr id="3" name="Picture 2" descr="logo-smt-em-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15568"/>
            <a:ext cx="3246120" cy="3246120"/>
          </a:xfrm>
          <a:prstGeom prst="rect">
            <a:avLst/>
          </a:prstGeom>
        </p:spPr>
      </p:pic>
      <p:pic>
        <p:nvPicPr>
          <p:cNvPr id="4" name="Picture 3" descr="logo-u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27599"/>
            <a:ext cx="1051560" cy="532352"/>
          </a:xfrm>
          <a:prstGeom prst="rect">
            <a:avLst/>
          </a:prstGeom>
        </p:spPr>
      </p:pic>
      <p:pic>
        <p:nvPicPr>
          <p:cNvPr id="5" name="Picture 4" descr="logo-sialab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768" y="185217"/>
            <a:ext cx="841248" cy="598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0288" y="1051560"/>
            <a:ext cx="6309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400" b="1">
                <a:solidFill>
                  <a:srgbClr val="006D77"/>
                </a:solidFill>
                <a:latin typeface="Noto Sans"/>
              </a:defRPr>
            </a:pPr>
            <a:r>
              <a:t>SMT em 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61722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0">
                <a:solidFill>
                  <a:srgbClr val="102A33"/>
                </a:solidFill>
                <a:latin typeface="Noto Sans"/>
              </a:defRPr>
            </a:pPr>
            <a:r>
              <a:t>Quais trocas de produto precisam de apoio antes de começar?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2980944"/>
            <a:ext cx="6355080" cy="1298448"/>
          </a:xfrm>
          <a:prstGeom prst="roundRect">
            <a:avLst>
              <a:gd name="adj" fmla="val 6000"/>
            </a:avLst>
          </a:prstGeom>
          <a:solidFill>
            <a:srgbClr val="CD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3264408"/>
            <a:ext cx="5394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3666744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102A33"/>
                </a:solidFill>
                <a:latin typeface="Noto Sans"/>
              </a:defRPr>
            </a:pPr>
            <a:r>
              <a:t>Projeto 4 · Trabalho final · Outubro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6053328"/>
            <a:ext cx="7543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006D77"/>
                </a:solidFill>
                <a:latin typeface="Noto Sans"/>
              </a:defRPr>
            </a:pPr>
            <a:r>
              <a:t>Juliana Ballin Lima  ·  Fernanda de Oliveira da Costa  ·  Pedro Henrique Oliveira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8E8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FFF8E8"/>
                </a:solidFill>
                <a:latin typeface="Noto Sans"/>
              </a:defRPr>
            </a:pPr>
            <a:r>
              <a:t>Sumário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63039"/>
            <a:ext cx="457200" cy="457200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819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8132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Por que prever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298448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463039"/>
            <a:ext cx="457200" cy="457200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819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48132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Perguntas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157984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Número e risco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298448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463039"/>
            <a:ext cx="457200" cy="457200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5819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48132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157984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2.057 registros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3" y="1298448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3455" y="1463039"/>
            <a:ext cx="457200" cy="457200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5" y="15819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5" y="148132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Método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2157984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Limpar e dividir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91840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1" y="3456432"/>
            <a:ext cx="457200" cy="457200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5753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47472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Resultados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Regressão e classe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3291840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0" y="3456432"/>
            <a:ext cx="457200" cy="457200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5753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47472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Notebook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151376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Demonstração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3291840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0528" y="3456432"/>
            <a:ext cx="457200" cy="457200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5753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47472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Entregáveis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151376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Relatório bônus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98863" y="3291840"/>
            <a:ext cx="2450592" cy="15361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63455" y="3456432"/>
            <a:ext cx="457200" cy="457200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5753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12095" y="347472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Decisão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4151376"/>
            <a:ext cx="1901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Como apoiar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605272"/>
            <a:ext cx="696772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FFF8E8"/>
                </a:solidFill>
                <a:latin typeface="Noto Sans"/>
              </a:defRPr>
            </a:pPr>
            <a:r>
              <a:t>Uma previsão para apoiar a decisão da linha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FFF8E8"/>
                </a:solidFill>
                <a:latin typeface="Noto Sans"/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4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O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4846320" cy="434340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17904"/>
            <a:ext cx="4206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006D77"/>
                </a:solidFill>
                <a:latin typeface="Noto Sans"/>
              </a:defRPr>
            </a:pPr>
            <a:r>
              <a:t>A linha para para trocar de produto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295144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12848"/>
            <a:ext cx="37856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50" b="0">
                <a:solidFill>
                  <a:srgbClr val="102A33"/>
                </a:solidFill>
                <a:latin typeface="Noto Sans"/>
              </a:defRPr>
            </a:pPr>
            <a:r>
              <a:t>retirar alimentadores do produto anterior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88920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706624"/>
            <a:ext cx="37856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50" b="0">
                <a:solidFill>
                  <a:srgbClr val="102A33"/>
                </a:solidFill>
                <a:latin typeface="Noto Sans"/>
              </a:defRPr>
            </a:pPr>
            <a:r>
              <a:t>instalar o novo conjunto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282696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200400"/>
            <a:ext cx="37856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50" b="0">
                <a:solidFill>
                  <a:srgbClr val="102A33"/>
                </a:solidFill>
                <a:latin typeface="Noto Sans"/>
              </a:defRPr>
            </a:pPr>
            <a:r>
              <a:t>carregar o programa da máquina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776472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694176"/>
            <a:ext cx="37856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50" b="0">
                <a:solidFill>
                  <a:srgbClr val="102A33"/>
                </a:solidFill>
                <a:latin typeface="Noto Sans"/>
              </a:defRPr>
            </a:pPr>
            <a:r>
              <a:t>conferir a primeira placa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507992"/>
            <a:ext cx="4160520" cy="630936"/>
          </a:xfrm>
          <a:prstGeom prst="roundRect">
            <a:avLst>
              <a:gd name="adj" fmla="val 6000"/>
            </a:avLst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681728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"/>
              </a:defRPr>
            </a:pPr>
            <a:r>
              <a:t>Enquanto isso, a linha não produz.</a:t>
            </a:r>
          </a:p>
        </p:txBody>
      </p:sp>
      <p:pic>
        <p:nvPicPr>
          <p:cNvPr id="17" name="Picture 16" descr="logo-smt-em-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24128"/>
            <a:ext cx="2148840" cy="21488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01583" y="1261872"/>
            <a:ext cx="3410712" cy="1389888"/>
          </a:xfrm>
          <a:prstGeom prst="roundRect">
            <a:avLst>
              <a:gd name="adj" fmla="val 6000"/>
            </a:avLst>
          </a:prstGeom>
          <a:solidFill>
            <a:srgbClr val="C7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554480"/>
            <a:ext cx="1051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627632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02A33"/>
                </a:solidFill>
                <a:latin typeface="Noto Sans"/>
              </a:defRPr>
            </a:pPr>
            <a:r>
              <a:t>trocas rápidas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862072"/>
            <a:ext cx="3410712" cy="1389888"/>
          </a:xfrm>
          <a:prstGeom prst="roundRect">
            <a:avLst>
              <a:gd name="adj" fmla="val 6000"/>
            </a:avLst>
          </a:prstGeom>
          <a:solidFill>
            <a:srgbClr val="F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154680"/>
            <a:ext cx="1417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6448"/>
                </a:solidFill>
                <a:latin typeface="Noto Sans"/>
              </a:defRPr>
            </a:pPr>
            <a:r>
              <a:t>&gt; 60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27832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02A33"/>
                </a:solidFill>
                <a:latin typeface="Noto Sans"/>
              </a:defRPr>
            </a:pPr>
            <a:r>
              <a:t>trocas críticas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617720"/>
            <a:ext cx="5522976" cy="941832"/>
          </a:xfrm>
          <a:prstGeom prst="roundRect">
            <a:avLst>
              <a:gd name="adj" fmla="val 6000"/>
            </a:avLst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855464"/>
            <a:ext cx="490118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8E8"/>
                </a:solidFill>
                <a:latin typeface="Noto Sans"/>
              </a:defRPr>
            </a:pPr>
            <a:r>
              <a:t>A ajuda adicional existe, mas não alcança todas as trocas.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As perguntas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097280"/>
            <a:ext cx="9464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500" b="1">
                <a:solidFill>
                  <a:srgbClr val="102A33"/>
                </a:solidFill>
                <a:latin typeface="Noto Sans"/>
              </a:defRPr>
            </a:pPr>
            <a:r>
              <a:t>Antes de a linha parar, quais trocas precisam de mais atenção?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5212080" cy="2999232"/>
          </a:xfrm>
          <a:prstGeom prst="roundRect">
            <a:avLst>
              <a:gd name="adj" fmla="val 6000"/>
            </a:avLst>
          </a:prstGeom>
          <a:solidFill>
            <a:srgbClr val="C7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468880"/>
            <a:ext cx="713232" cy="713232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33472"/>
            <a:ext cx="713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39572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006D77"/>
                </a:solidFill>
                <a:latin typeface="Noto Sans"/>
              </a:defRPr>
            </a:pPr>
            <a:r>
              <a:t>Regressão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46120"/>
            <a:ext cx="4434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0">
                <a:solidFill>
                  <a:srgbClr val="102A33"/>
                </a:solidFill>
                <a:latin typeface="Noto Sans"/>
              </a:defRPr>
            </a:pPr>
            <a:r>
              <a:t>Quantos minutos a troca deve levar?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34256"/>
            <a:ext cx="3840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006D77"/>
                </a:solidFill>
                <a:latin typeface="Noto Sans"/>
              </a:defRPr>
            </a:pPr>
            <a:r>
              <a:t>Métrica principal: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03120"/>
            <a:ext cx="5212080" cy="2999232"/>
          </a:xfrm>
          <a:prstGeom prst="roundRect">
            <a:avLst>
              <a:gd name="adj" fmla="val 6000"/>
            </a:avLst>
          </a:prstGeom>
          <a:solidFill>
            <a:srgbClr val="F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38544" y="2468880"/>
            <a:ext cx="713232" cy="713232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633472"/>
            <a:ext cx="713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39572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006D77"/>
                </a:solidFill>
                <a:latin typeface="Noto Sans"/>
              </a:defRPr>
            </a:pPr>
            <a:r>
              <a:t>Classificação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3246120"/>
            <a:ext cx="4434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0">
                <a:solidFill>
                  <a:srgbClr val="102A33"/>
                </a:solidFill>
                <a:latin typeface="Noto Sans"/>
              </a:defRPr>
            </a:pPr>
            <a:r>
              <a:t>A troca deve passar de 42 minutos?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4224528"/>
            <a:ext cx="43434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006D77"/>
                </a:solidFill>
                <a:latin typeface="Noto Sans"/>
              </a:defRPr>
            </a:pPr>
            <a:r>
              <a:t>Foco: encontrar o risco sem alarmar demais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8E8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FFF8E8"/>
                </a:solidFill>
                <a:latin typeface="Noto Sans"/>
              </a:defRPr>
            </a:pPr>
            <a:r>
              <a:t>O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078992"/>
            <a:ext cx="1993392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16151"/>
            <a:ext cx="1773936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FF6448"/>
                </a:solidFill>
                <a:latin typeface="Noto Sans"/>
              </a:defRPr>
            </a:pPr>
            <a:r>
              <a:t>2.057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linhas recebidas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078992"/>
            <a:ext cx="2157984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216151"/>
            <a:ext cx="19385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18B889"/>
                </a:solidFill>
                <a:latin typeface="Noto Sans"/>
              </a:defRPr>
            </a:pPr>
            <a:r>
              <a:t>2.043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1737360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trocas após deduplicar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078992"/>
            <a:ext cx="1993392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216151"/>
            <a:ext cx="1773936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FF6448"/>
                </a:solidFill>
                <a:latin typeface="Noto Sans"/>
              </a:defRPr>
            </a:pPr>
            <a:r>
              <a:t>27,2%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73736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acima de 42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1078992"/>
            <a:ext cx="2103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216151"/>
            <a:ext cx="1883663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36A9E1"/>
                </a:solidFill>
                <a:latin typeface="Noto Sans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1737360"/>
            <a:ext cx="188366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entradas antes da troca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078992"/>
            <a:ext cx="2057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216151"/>
            <a:ext cx="1837943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FFC43D"/>
                </a:solidFill>
                <a:latin typeface="Noto Sans"/>
              </a:defRPr>
            </a:pPr>
            <a:r>
              <a:t>jan a 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1737360"/>
            <a:ext cx="183794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102A33"/>
                </a:solidFill>
                <a:latin typeface="Noto Sans"/>
              </a:defRPr>
            </a:pPr>
            <a:r>
              <a:t>período de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2496312"/>
            <a:ext cx="5349240" cy="309067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61488"/>
            <a:ext cx="4617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Entradas conhecidas antes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3429000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346704"/>
            <a:ext cx="4379976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02A33"/>
                </a:solidFill>
                <a:latin typeface="Noto Sans"/>
              </a:defRPr>
            </a:pPr>
            <a:r>
              <a:t>alimentadores e kit preparado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3877056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3794760"/>
            <a:ext cx="4379976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02A33"/>
                </a:solidFill>
                <a:latin typeface="Noto Sans"/>
              </a:defRPr>
            </a:pPr>
            <a:r>
              <a:t>experiência e componentes novos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4325112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242816"/>
            <a:ext cx="4379976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02A33"/>
                </a:solidFill>
                <a:latin typeface="Noto Sans"/>
              </a:defRPr>
            </a:pPr>
            <a:r>
              <a:t>tamanho do lote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" y="4773168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690872"/>
            <a:ext cx="4379976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02A33"/>
                </a:solidFill>
                <a:latin typeface="Noto Sans"/>
              </a:defRPr>
            </a:pPr>
            <a:r>
              <a:t>linha, mudança de família e turno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496312"/>
            <a:ext cx="5349240" cy="309067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761488"/>
            <a:ext cx="4526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Divisão temporal</a:t>
            </a:r>
          </a:p>
        </p:txBody>
      </p:sp>
      <p:sp>
        <p:nvSpPr>
          <p:cNvPr id="32" name="Oval 31"/>
          <p:cNvSpPr/>
          <p:nvPr/>
        </p:nvSpPr>
        <p:spPr>
          <a:xfrm>
            <a:off x="6565392" y="3401568"/>
            <a:ext cx="237744" cy="237744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3364992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102A33"/>
                </a:solidFill>
                <a:latin typeface="Noto Sans"/>
              </a:defRPr>
            </a:pPr>
            <a:r>
              <a:t>Treino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3364992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006D77"/>
                </a:solidFill>
                <a:latin typeface="Noto Sans"/>
              </a:defRPr>
            </a:pPr>
            <a:r>
              <a:t>1.236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336499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02A33"/>
                </a:solidFill>
                <a:latin typeface="Noto Sans"/>
              </a:defRPr>
            </a:pPr>
            <a:r>
              <a:t>05/01 a 27/05</a:t>
            </a:r>
          </a:p>
        </p:txBody>
      </p:sp>
      <p:sp>
        <p:nvSpPr>
          <p:cNvPr id="36" name="Oval 35"/>
          <p:cNvSpPr/>
          <p:nvPr/>
        </p:nvSpPr>
        <p:spPr>
          <a:xfrm>
            <a:off x="6565392" y="4023360"/>
            <a:ext cx="237744" cy="23774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3986784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102A33"/>
                </a:solidFill>
                <a:latin typeface="Noto Sans"/>
              </a:defRPr>
            </a:pPr>
            <a:r>
              <a:t>Validação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3986784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006D77"/>
                </a:solidFill>
                <a:latin typeface="Noto Sans"/>
              </a:defRPr>
            </a:pPr>
            <a:r>
              <a:t>404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3986784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02A33"/>
                </a:solidFill>
                <a:latin typeface="Noto Sans"/>
              </a:defRPr>
            </a:pPr>
            <a:r>
              <a:t>28/05 a 15/07</a:t>
            </a:r>
          </a:p>
        </p:txBody>
      </p:sp>
      <p:sp>
        <p:nvSpPr>
          <p:cNvPr id="40" name="Oval 39"/>
          <p:cNvSpPr/>
          <p:nvPr/>
        </p:nvSpPr>
        <p:spPr>
          <a:xfrm>
            <a:off x="6565392" y="4645152"/>
            <a:ext cx="237744" cy="237744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608576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102A33"/>
                </a:solidFill>
                <a:latin typeface="Noto Sans"/>
              </a:defRPr>
            </a:pPr>
            <a:r>
              <a:t>Teste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4608576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006D77"/>
                </a:solidFill>
                <a:latin typeface="Noto Sans"/>
              </a:defRPr>
            </a:pPr>
            <a:r>
              <a:t>403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4608576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02A33"/>
                </a:solidFill>
                <a:latin typeface="Noto Sans"/>
              </a:defRPr>
            </a:pPr>
            <a:r>
              <a:t>16/07 a 28/08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129784"/>
            <a:ext cx="4526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6448"/>
                </a:solidFill>
                <a:latin typeface="Noto Sans"/>
              </a:defRPr>
            </a:pPr>
            <a:r>
              <a:t>Teste reservado até o final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FFF8E8"/>
                </a:solidFill>
                <a:latin typeface="Noto Sans"/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Limpeza e relações principais</a:t>
            </a:r>
          </a:p>
        </p:txBody>
      </p:sp>
      <p:pic>
        <p:nvPicPr>
          <p:cNvPr id="5" name="Picture 4" descr="02_relacoes_princip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18250"/>
            <a:ext cx="6537960" cy="26557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078992"/>
            <a:ext cx="4407408" cy="1929384"/>
          </a:xfrm>
          <a:prstGeom prst="roundRect">
            <a:avLst>
              <a:gd name="adj" fmla="val 6000"/>
            </a:avLst>
          </a:prstGeom>
          <a:solidFill>
            <a:srgbClr val="CD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6368" y="1344168"/>
            <a:ext cx="3794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O que foi tratado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1874519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5823" y="1792224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80" b="0">
                <a:solidFill>
                  <a:srgbClr val="102A33"/>
                </a:solidFill>
                <a:latin typeface="Noto Sans"/>
              </a:defRPr>
            </a:pPr>
            <a:r>
              <a:t>14 duplicatas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2148839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5823" y="2066543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80" b="0">
                <a:solidFill>
                  <a:srgbClr val="102A33"/>
                </a:solidFill>
                <a:latin typeface="Noto Sans"/>
              </a:defRPr>
            </a:pPr>
            <a:r>
              <a:t>grafias e datas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79" y="2423160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3" y="2340864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80" b="0">
                <a:solidFill>
                  <a:srgbClr val="102A33"/>
                </a:solidFill>
                <a:latin typeface="Noto Sans"/>
              </a:defRPr>
            </a:pPr>
            <a:r>
              <a:t>vazios e código 9999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2697479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3" y="2615184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80" b="0">
                <a:solidFill>
                  <a:srgbClr val="102A33"/>
                </a:solidFill>
                <a:latin typeface="Noto Sans"/>
              </a:defRPr>
            </a:pPr>
            <a:r>
              <a:t>medidas impossíveis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236976"/>
            <a:ext cx="4407408" cy="2221992"/>
          </a:xfrm>
          <a:prstGeom prst="roundRect">
            <a:avLst>
              <a:gd name="adj" fmla="val 6000"/>
            </a:avLst>
          </a:prstGeom>
          <a:solidFill>
            <a:srgbClr val="F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511296"/>
            <a:ext cx="3794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O que os gráficos sugerem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4087368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3" y="4005072"/>
            <a:ext cx="351129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20" b="0">
                <a:solidFill>
                  <a:srgbClr val="102A33"/>
                </a:solidFill>
                <a:latin typeface="Noto Sans"/>
              </a:defRPr>
            </a:pPr>
            <a:r>
              <a:t>kit preparado encurta a troca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4443983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3" y="4361688"/>
            <a:ext cx="351129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20" b="0">
                <a:solidFill>
                  <a:srgbClr val="102A33"/>
                </a:solidFill>
                <a:latin typeface="Noto Sans"/>
              </a:defRPr>
            </a:pPr>
            <a:r>
              <a:t>mais alimentadores alongam a troca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4800600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4718304"/>
            <a:ext cx="351129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20" b="0">
                <a:solidFill>
                  <a:srgbClr val="102A33"/>
                </a:solidFill>
                <a:latin typeface="Noto Sans"/>
              </a:defRPr>
            </a:pPr>
            <a:r>
              <a:t>associação não prova causa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650992"/>
            <a:ext cx="9528048" cy="502920"/>
          </a:xfrm>
          <a:prstGeom prst="roundRect">
            <a:avLst>
              <a:gd name="adj" fmla="val 6000"/>
            </a:avLst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2768" y="5769864"/>
            <a:ext cx="9034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8E8"/>
                </a:solidFill>
                <a:latin typeface="Noto Sans"/>
              </a:defRPr>
            </a:pPr>
            <a:r>
              <a:t>A coluna posterior ao evento ficou fora dos modelos.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4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Resultado 1 · Quantos minutos?</a:t>
            </a:r>
          </a:p>
        </p:txBody>
      </p:sp>
      <p:pic>
        <p:nvPicPr>
          <p:cNvPr id="5" name="Picture 4" descr="04_comparacao_regr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707025"/>
            <a:ext cx="6611112" cy="33616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05472" y="1216152"/>
            <a:ext cx="4453128" cy="1133856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34656" y="1453896"/>
            <a:ext cx="16276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2,66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2288" y="15544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02A33"/>
                </a:solidFill>
                <a:latin typeface="Noto Sans"/>
              </a:defRPr>
            </a:pPr>
            <a:r>
              <a:t>erro médio da árvore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5472" y="2587752"/>
            <a:ext cx="4453128" cy="1133856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34656" y="2825496"/>
            <a:ext cx="16276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6448"/>
                </a:solidFill>
                <a:latin typeface="Noto Sans"/>
              </a:defRPr>
            </a:pPr>
            <a:r>
              <a:t>67,4%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926080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02A33"/>
                </a:solidFill>
                <a:latin typeface="Noto Sans"/>
              </a:defRPr>
            </a:pPr>
            <a:r>
              <a:t>menos erro que a referência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5472" y="3959352"/>
            <a:ext cx="4453128" cy="1133856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4197096"/>
            <a:ext cx="1691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36A9E1"/>
                </a:solidFill>
                <a:latin typeface="Noto Sans"/>
              </a:defRPr>
            </a:pPr>
            <a:r>
              <a:t>R² 0,884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4297680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02A33"/>
                </a:solidFill>
                <a:latin typeface="Noto Sans"/>
              </a:defRPr>
            </a:pPr>
            <a:r>
              <a:t>no período de teste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5641848"/>
            <a:ext cx="9537192" cy="502920"/>
          </a:xfrm>
          <a:prstGeom prst="roundRect">
            <a:avLst>
              <a:gd name="adj" fmla="val 6000"/>
            </a:avLst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5760720"/>
            <a:ext cx="9070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8E8"/>
                </a:solidFill>
                <a:latin typeface="Noto Sans"/>
              </a:defRPr>
            </a:pPr>
            <a:r>
              <a:t>A árvore de profundidade 7 foi escolhida na validação.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Resultado 2 · Vai passar de 42 minutos?</a:t>
            </a:r>
          </a:p>
        </p:txBody>
      </p:sp>
      <p:pic>
        <p:nvPicPr>
          <p:cNvPr id="5" name="Picture 4" descr="06_matriz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3169"/>
            <a:ext cx="5806440" cy="43996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47104" y="1179576"/>
            <a:ext cx="5020056" cy="996696"/>
          </a:xfrm>
          <a:prstGeom prst="roundRect">
            <a:avLst>
              <a:gd name="adj" fmla="val 6000"/>
            </a:avLst>
          </a:prstGeom>
          <a:solidFill>
            <a:srgbClr val="CD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408176"/>
            <a:ext cx="758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6D77"/>
                </a:solidFill>
                <a:latin typeface="Noto Sans"/>
              </a:defRPr>
            </a:pPr>
            <a: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472184"/>
            <a:ext cx="34381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02A33"/>
                </a:solidFill>
                <a:latin typeface="Noto Sans"/>
              </a:defRPr>
            </a:pPr>
            <a:r>
              <a:t>trocas demoradas encontradas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7104" y="2377440"/>
            <a:ext cx="5020056" cy="996696"/>
          </a:xfrm>
          <a:prstGeom prst="roundRect">
            <a:avLst>
              <a:gd name="adj" fmla="val 6000"/>
            </a:avLst>
          </a:prstGeom>
          <a:solidFill>
            <a:srgbClr val="F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606040"/>
            <a:ext cx="758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F6448"/>
                </a:solidFill>
                <a:latin typeface="Noto Sans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670048"/>
            <a:ext cx="34381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02A33"/>
                </a:solidFill>
                <a:latin typeface="Noto Sans"/>
              </a:defRPr>
            </a:pPr>
            <a:r>
              <a:t>trocas demoradas perdidas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3575304"/>
            <a:ext cx="5020056" cy="996696"/>
          </a:xfrm>
          <a:prstGeom prst="roundRect">
            <a:avLst>
              <a:gd name="adj" fmla="val 6000"/>
            </a:avLst>
          </a:prstGeom>
          <a:solidFill>
            <a:srgbClr val="C7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803904"/>
            <a:ext cx="758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6A9E1"/>
                </a:solidFill>
                <a:latin typeface="Noto Sans"/>
              </a:defRPr>
            </a:pPr>
            <a: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3867912"/>
            <a:ext cx="34381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02A33"/>
                </a:solidFill>
                <a:latin typeface="Noto Sans"/>
              </a:defRPr>
            </a:pPr>
            <a:r>
              <a:t>falsos alarmes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7104" y="4773168"/>
            <a:ext cx="5020056" cy="960120"/>
          </a:xfrm>
          <a:prstGeom prst="roundRect">
            <a:avLst>
              <a:gd name="adj" fmla="val 6000"/>
            </a:avLst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5074920"/>
            <a:ext cx="4526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20" b="1">
                <a:solidFill>
                  <a:srgbClr val="FFF8E8"/>
                </a:solidFill>
                <a:latin typeface="Noto Sans"/>
              </a:defRPr>
            </a:pPr>
            <a:r>
              <a:t>Recall 87,3%  ·  Precisão 74,2%  ·  F1 80,2%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8E8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FFF8E8"/>
                </a:solidFill>
                <a:latin typeface="Noto Sans"/>
              </a:defRPr>
            </a:pPr>
            <a:r>
              <a:t>Demonstração do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05840"/>
            <a:ext cx="7360920" cy="5184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view-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222248"/>
            <a:ext cx="7141464" cy="476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74736" y="1188720"/>
            <a:ext cx="3447288" cy="123444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1444752"/>
            <a:ext cx="502920" cy="502920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45336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02A3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1399032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Limpeza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755648"/>
            <a:ext cx="21945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cada problema é observado e conferido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2715768"/>
            <a:ext cx="3447288" cy="123444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971800"/>
            <a:ext cx="502920" cy="502920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072384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02A33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92607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282696"/>
            <a:ext cx="21945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referência, regressão linear e árvores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4242816"/>
            <a:ext cx="3447288" cy="123444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4498848"/>
            <a:ext cx="502920" cy="502920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599431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02A33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45312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6D77"/>
                </a:solidFill>
                <a:latin typeface="Noto Sans"/>
              </a:defRPr>
            </a:pPr>
            <a:r>
              <a:t>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4809744"/>
            <a:ext cx="21945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células executadas e resultados reproduzíveis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FFF8E8"/>
                </a:solidFill>
                <a:latin typeface="Noto Sans"/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Entregáveis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52144"/>
            <a:ext cx="321868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D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4248" y="1389888"/>
            <a:ext cx="530352" cy="530352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48256"/>
            <a:ext cx="270662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14600"/>
            <a:ext cx="2596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entrega principal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8808" y="1152144"/>
            <a:ext cx="321868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D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22976" y="1389888"/>
            <a:ext cx="530352" cy="530352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48256"/>
            <a:ext cx="270662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Apresentação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2596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PPTX e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152144"/>
            <a:ext cx="321868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D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61704" y="1389888"/>
            <a:ext cx="530352" cy="530352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7" y="2048256"/>
            <a:ext cx="270662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Relatório técnico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514600"/>
            <a:ext cx="2596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102A33"/>
                </a:solidFill>
                <a:latin typeface="Noto Sans"/>
              </a:defRPr>
            </a:pPr>
            <a:r>
              <a:t>material complementar</a:t>
            </a:r>
          </a:p>
        </p:txBody>
      </p:sp>
      <p:pic>
        <p:nvPicPr>
          <p:cNvPr id="17" name="Picture 16" descr="preview-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145536"/>
            <a:ext cx="2633472" cy="1755648"/>
          </a:xfrm>
          <a:prstGeom prst="rect">
            <a:avLst/>
          </a:prstGeom>
        </p:spPr>
      </p:pic>
      <p:pic>
        <p:nvPicPr>
          <p:cNvPr id="18" name="Picture 17" descr="logo-smt-em-te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971800"/>
            <a:ext cx="1901952" cy="1901952"/>
          </a:xfrm>
          <a:prstGeom prst="rect">
            <a:avLst/>
          </a:prstGeom>
        </p:spPr>
      </p:pic>
      <p:pic>
        <p:nvPicPr>
          <p:cNvPr id="19" name="Picture 18" descr="preview-relato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908706"/>
            <a:ext cx="1408176" cy="199156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558784" y="5138928"/>
            <a:ext cx="1554480" cy="402336"/>
          </a:xfrm>
          <a:prstGeom prst="roundRect">
            <a:avLst>
              <a:gd name="adj" fmla="val 6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523036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02A33"/>
                </a:solidFill>
                <a:latin typeface="Noto Sans"/>
              </a:defRPr>
            </a:pPr>
            <a:r>
              <a:t>BÔNUS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6144768"/>
            <a:ext cx="7223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06D77"/>
                </a:solidFill>
                <a:latin typeface="Noto Sans"/>
              </a:defRPr>
            </a:pPr>
            <a:r>
              <a:t>Todos os arquivos estão organizados no repositório.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069080"/>
            <a:ext cx="576072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20040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6D77"/>
                </a:solidFill>
                <a:latin typeface="Noto San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"/>
            <a:ext cx="10168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600" b="1">
                <a:solidFill>
                  <a:srgbClr val="006D77"/>
                </a:solidFill>
                <a:latin typeface="Noto Sans"/>
              </a:defRPr>
            </a:pPr>
            <a:r>
              <a:t>Decisão apoiada e aprendizados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078992"/>
            <a:ext cx="6528816" cy="4498848"/>
          </a:xfrm>
          <a:prstGeom prst="roundRect">
            <a:avLst>
              <a:gd name="adj" fmla="val 6000"/>
            </a:avLst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1732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FFF8E8"/>
                </a:solidFill>
                <a:latin typeface="Noto Sans"/>
              </a:defRPr>
            </a:pPr>
            <a:r>
              <a:t>Como usar</a:t>
            </a:r>
          </a:p>
        </p:txBody>
      </p:sp>
      <p:sp>
        <p:nvSpPr>
          <p:cNvPr id="7" name="Oval 6"/>
          <p:cNvSpPr/>
          <p:nvPr/>
        </p:nvSpPr>
        <p:spPr>
          <a:xfrm>
            <a:off x="1078992" y="2011680"/>
            <a:ext cx="438912" cy="438912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03120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02A3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048256"/>
            <a:ext cx="48646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FF8E8"/>
                </a:solidFill>
                <a:latin typeface="Noto Sans"/>
              </a:defRPr>
            </a:pPr>
            <a:r>
              <a:t>Calcular o risco antes da troca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2743200"/>
            <a:ext cx="438912" cy="43891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34640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02A33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2779776"/>
            <a:ext cx="48646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FF8E8"/>
                </a:solidFill>
                <a:latin typeface="Noto Sans"/>
              </a:defRPr>
            </a:pPr>
            <a:r>
              <a:t>Ordenar as trocas mais arriscadas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474720"/>
            <a:ext cx="438912" cy="438912"/>
          </a:xfrm>
          <a:prstGeom prst="ellipse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566160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02A33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3511296"/>
            <a:ext cx="48646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F8E8"/>
                </a:solidFill>
                <a:latin typeface="Noto Sans"/>
              </a:defRPr>
            </a:pPr>
            <a:r>
              <a:t>Direcionar apoio com decisão humana</a:t>
            </a:r>
          </a:p>
        </p:txBody>
      </p:sp>
      <p:sp>
        <p:nvSpPr>
          <p:cNvPr id="16" name="Oval 15"/>
          <p:cNvSpPr/>
          <p:nvPr/>
        </p:nvSpPr>
        <p:spPr>
          <a:xfrm>
            <a:off x="1078992" y="4206240"/>
            <a:ext cx="438912" cy="438912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97680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02A33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242816"/>
            <a:ext cx="48646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FF8E8"/>
                </a:solidFill>
                <a:latin typeface="Noto Sans"/>
              </a:defRPr>
            </a:pPr>
            <a:r>
              <a:t>Monitorar perdas e falsos alarmes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078992"/>
            <a:ext cx="4078224" cy="1965960"/>
          </a:xfrm>
          <a:prstGeom prst="roundRect">
            <a:avLst>
              <a:gd name="adj" fmla="val 6000"/>
            </a:avLst>
          </a:prstGeom>
          <a:solidFill>
            <a:srgbClr val="CD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1353312"/>
            <a:ext cx="3429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Pontos de aprendizado</a:t>
            </a:r>
          </a:p>
        </p:txBody>
      </p:sp>
      <p:sp>
        <p:nvSpPr>
          <p:cNvPr id="21" name="Oval 20"/>
          <p:cNvSpPr/>
          <p:nvPr/>
        </p:nvSpPr>
        <p:spPr>
          <a:xfrm>
            <a:off x="7754112" y="1938527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1856231"/>
            <a:ext cx="30998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avaliar no tempo</a:t>
            </a:r>
          </a:p>
        </p:txBody>
      </p:sp>
      <p:sp>
        <p:nvSpPr>
          <p:cNvPr id="23" name="Oval 22"/>
          <p:cNvSpPr/>
          <p:nvPr/>
        </p:nvSpPr>
        <p:spPr>
          <a:xfrm>
            <a:off x="7754112" y="2249423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1856" y="2167127"/>
            <a:ext cx="30998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comparar com referência</a:t>
            </a:r>
          </a:p>
        </p:txBody>
      </p:sp>
      <p:sp>
        <p:nvSpPr>
          <p:cNvPr id="25" name="Oval 24"/>
          <p:cNvSpPr/>
          <p:nvPr/>
        </p:nvSpPr>
        <p:spPr>
          <a:xfrm>
            <a:off x="7754112" y="2560320"/>
            <a:ext cx="109728" cy="109728"/>
          </a:xfrm>
          <a:prstGeom prst="ellipse">
            <a:avLst/>
          </a:prstGeom>
          <a:solidFill>
            <a:srgbClr val="18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478024"/>
            <a:ext cx="30998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evitar vazamento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273552"/>
            <a:ext cx="4078224" cy="2304288"/>
          </a:xfrm>
          <a:prstGeom prst="roundRect">
            <a:avLst>
              <a:gd name="adj" fmla="val 6000"/>
            </a:avLst>
          </a:prstGeom>
          <a:solidFill>
            <a:srgbClr val="F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3547872"/>
            <a:ext cx="3429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Noto Sans"/>
              </a:defRPr>
            </a:pPr>
            <a:r>
              <a:t>Limites</a:t>
            </a:r>
          </a:p>
        </p:txBody>
      </p:sp>
      <p:sp>
        <p:nvSpPr>
          <p:cNvPr id="29" name="Oval 28"/>
          <p:cNvSpPr/>
          <p:nvPr/>
        </p:nvSpPr>
        <p:spPr>
          <a:xfrm>
            <a:off x="7754112" y="4133087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4050791"/>
            <a:ext cx="30998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dados sintéticos</a:t>
            </a:r>
          </a:p>
        </p:txBody>
      </p:sp>
      <p:sp>
        <p:nvSpPr>
          <p:cNvPr id="31" name="Oval 30"/>
          <p:cNvSpPr/>
          <p:nvPr/>
        </p:nvSpPr>
        <p:spPr>
          <a:xfrm>
            <a:off x="7754112" y="4480559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1856" y="4398264"/>
            <a:ext cx="30998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sem prova causal</a:t>
            </a:r>
          </a:p>
        </p:txBody>
      </p:sp>
      <p:sp>
        <p:nvSpPr>
          <p:cNvPr id="33" name="Oval 32"/>
          <p:cNvSpPr/>
          <p:nvPr/>
        </p:nvSpPr>
        <p:spPr>
          <a:xfrm>
            <a:off x="7754112" y="4828031"/>
            <a:ext cx="109728" cy="109728"/>
          </a:xfrm>
          <a:prstGeom prst="ellipse">
            <a:avLst/>
          </a:prstGeom>
          <a:solidFill>
            <a:srgbClr val="FF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1856" y="4745736"/>
            <a:ext cx="30998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40" b="0">
                <a:solidFill>
                  <a:srgbClr val="102A33"/>
                </a:solidFill>
                <a:latin typeface="Noto Sans"/>
              </a:defRPr>
            </a:pPr>
            <a:r>
              <a:t>validar antes do uso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9504" y="5779008"/>
            <a:ext cx="6446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006D77"/>
                </a:solidFill>
                <a:latin typeface="Noto Sans"/>
              </a:defRPr>
            </a:pPr>
            <a:r>
              <a:t>Prever cedo para apoiar melhor.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4512" y="64373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50" b="1">
                <a:solidFill>
                  <a:srgbClr val="006D77"/>
                </a:solidFill>
                <a:latin typeface="Noto Sans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